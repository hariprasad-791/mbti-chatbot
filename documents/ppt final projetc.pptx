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1">
          <p15:clr>
            <a:srgbClr val="A4A3A4"/>
          </p15:clr>
        </p15:guide>
      </p15:sldGuideLst>
    </p:ext>
    <p:ext uri="GoogleSlidesCustomDataVersion2">
      <go:slidesCustomData xmlns:go="http://customooxmlschemas.google.com/" r:id="rId28" roundtripDataSignature="AMtx7mjTBh8PTjF/kE7FGhAQ25WPiN1U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2B6354A-8ADA-4A7B-BB70-145939D13EDB}">
  <a:tblStyle styleId="{F2B6354A-8ADA-4A7B-BB70-145939D13ED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EF2F7"/>
          </a:solidFill>
        </a:fill>
      </a:tcStyle>
    </a:wholeTbl>
    <a:band1H>
      <a:tcTxStyle b="off" i="off"/>
      <a:tcStyle>
        <a:fill>
          <a:solidFill>
            <a:srgbClr val="DCE5EE"/>
          </a:solidFill>
        </a:fill>
      </a:tcStyle>
    </a:band1H>
    <a:band2H>
      <a:tcTxStyle b="off" i="off"/>
    </a:band2H>
    <a:band1V>
      <a:tcTxStyle b="off" i="off"/>
      <a:tcStyle>
        <a:fill>
          <a:solidFill>
            <a:srgbClr val="DCE5EE"/>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1"/>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customschemas.google.com/relationships/presentationmetadata" Target="meta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15" name="Google Shape;1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608850e775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608850e775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608850e775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608850e775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608850e775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608850e775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608850e775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608850e775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3608850e775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608850e775_7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608850e775_7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608850e775_7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608850e775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608850e775_0_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3608850e775_0_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608850e775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608850e775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608850e775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608850e775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608850e775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3608850e775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608850e775_7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608850e775_7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608850e775_7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608850e775_7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608850e775_7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608850e775_7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608850e775_5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608850e775_5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608850e775_5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608850e775_2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608850e775_2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608850e775_2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608850e775_7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608850e775_7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g3608850e775_7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608850e775_9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608850e775_9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g3608850e775_9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608850e775_2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608850e775_2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608850e775_2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608850e775_2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608850e775_2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g3608850e775_2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608850e775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608850e775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3608850e775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608850e775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608850e775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608850e775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1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6"/>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6"/>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1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16"/>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pic>
        <p:nvPicPr>
          <p:cNvPr descr="C:\Users\Srinidhi\Desktop\logo.png" id="27" name="Google Shape;27;p16"/>
          <p:cNvPicPr preferRelativeResize="0"/>
          <p:nvPr/>
        </p:nvPicPr>
        <p:blipFill rotWithShape="1">
          <a:blip r:embed="rId2">
            <a:alphaModFix/>
          </a:blip>
          <a:srcRect b="0" l="0" r="0" t="0"/>
          <a:stretch/>
        </p:blipFill>
        <p:spPr>
          <a:xfrm>
            <a:off x="0" y="-62028"/>
            <a:ext cx="2438400" cy="97720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1" name="Google Shape;31;p1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Srinidhi\Desktop\logo.png" id="34" name="Google Shape;34;p17"/>
          <p:cNvPicPr preferRelativeResize="0"/>
          <p:nvPr/>
        </p:nvPicPr>
        <p:blipFill rotWithShape="1">
          <a:blip r:embed="rId2">
            <a:alphaModFix/>
          </a:blip>
          <a:srcRect b="0" l="0" r="0" t="0"/>
          <a:stretch/>
        </p:blipFill>
        <p:spPr>
          <a:xfrm>
            <a:off x="175575" y="33090"/>
            <a:ext cx="2438400" cy="97720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5" name="Shape 35"/>
        <p:cNvGrpSpPr/>
        <p:nvPr/>
      </p:nvGrpSpPr>
      <p:grpSpPr>
        <a:xfrm>
          <a:off x="0" y="0"/>
          <a:ext cx="0" cy="0"/>
          <a:chOff x="0" y="0"/>
          <a:chExt cx="0" cy="0"/>
        </a:xfrm>
      </p:grpSpPr>
      <p:sp>
        <p:nvSpPr>
          <p:cNvPr id="36" name="Google Shape;36;p18"/>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8"/>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8"/>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0" name="Google Shape;40;p1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43" name="Google Shape;43;p18"/>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pic>
        <p:nvPicPr>
          <p:cNvPr descr="C:\Users\Srinidhi\Desktop\logo.png" id="44" name="Google Shape;44;p18"/>
          <p:cNvPicPr preferRelativeResize="0"/>
          <p:nvPr/>
        </p:nvPicPr>
        <p:blipFill rotWithShape="1">
          <a:blip r:embed="rId2">
            <a:alphaModFix/>
          </a:blip>
          <a:srcRect b="0" l="0" r="0" t="0"/>
          <a:stretch/>
        </p:blipFill>
        <p:spPr>
          <a:xfrm>
            <a:off x="128441" y="33090"/>
            <a:ext cx="2438400" cy="97720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9"/>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19"/>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9" name="Google Shape;49;p1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Srinidhi\Desktop\logo.png" id="52" name="Google Shape;52;p19"/>
          <p:cNvPicPr preferRelativeResize="0"/>
          <p:nvPr/>
        </p:nvPicPr>
        <p:blipFill rotWithShape="1">
          <a:blip r:embed="rId2">
            <a:alphaModFix/>
          </a:blip>
          <a:srcRect b="0" l="0" r="0" t="0"/>
          <a:stretch/>
        </p:blipFill>
        <p:spPr>
          <a:xfrm>
            <a:off x="0" y="-29189"/>
            <a:ext cx="2438400" cy="97720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0"/>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20"/>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20"/>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8" name="Google Shape;58;p20"/>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2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Srinidhi\Desktop\logo.png" id="62" name="Google Shape;62;p20"/>
          <p:cNvPicPr preferRelativeResize="0"/>
          <p:nvPr/>
        </p:nvPicPr>
        <p:blipFill rotWithShape="1">
          <a:blip r:embed="rId2">
            <a:alphaModFix/>
          </a:blip>
          <a:srcRect b="0" l="0" r="0" t="0"/>
          <a:stretch/>
        </p:blipFill>
        <p:spPr>
          <a:xfrm>
            <a:off x="119013" y="12104"/>
            <a:ext cx="2438400" cy="97720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2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Srinidhi\Desktop\logo.png" id="68" name="Google Shape;68;p21"/>
          <p:cNvPicPr preferRelativeResize="0"/>
          <p:nvPr/>
        </p:nvPicPr>
        <p:blipFill rotWithShape="1">
          <a:blip r:embed="rId2">
            <a:alphaModFix/>
          </a:blip>
          <a:srcRect b="0" l="0" r="0" t="0"/>
          <a:stretch/>
        </p:blipFill>
        <p:spPr>
          <a:xfrm>
            <a:off x="260415" y="34776"/>
            <a:ext cx="2438400" cy="97720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9" name="Shape 69"/>
        <p:cNvGrpSpPr/>
        <p:nvPr/>
      </p:nvGrpSpPr>
      <p:grpSpPr>
        <a:xfrm>
          <a:off x="0" y="0"/>
          <a:ext cx="0" cy="0"/>
          <a:chOff x="0" y="0"/>
          <a:chExt cx="0" cy="0"/>
        </a:xfrm>
      </p:grpSpPr>
      <p:sp>
        <p:nvSpPr>
          <p:cNvPr id="70" name="Google Shape;70;p2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Srinidhi\Desktop\logo.png" id="75" name="Google Shape;75;p22"/>
          <p:cNvPicPr preferRelativeResize="0"/>
          <p:nvPr/>
        </p:nvPicPr>
        <p:blipFill rotWithShape="1">
          <a:blip r:embed="rId2">
            <a:alphaModFix/>
          </a:blip>
          <a:srcRect b="0" l="0" r="0" t="0"/>
          <a:stretch/>
        </p:blipFill>
        <p:spPr>
          <a:xfrm>
            <a:off x="137867" y="0"/>
            <a:ext cx="2438400" cy="97720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6" name="Shape 76"/>
        <p:cNvGrpSpPr/>
        <p:nvPr/>
      </p:nvGrpSpPr>
      <p:grpSpPr>
        <a:xfrm>
          <a:off x="0" y="0"/>
          <a:ext cx="0" cy="0"/>
          <a:chOff x="0" y="0"/>
          <a:chExt cx="0" cy="0"/>
        </a:xfrm>
      </p:grpSpPr>
      <p:sp>
        <p:nvSpPr>
          <p:cNvPr id="77" name="Google Shape;77;p23"/>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3"/>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3"/>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3"/>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1" name="Google Shape;81;p23"/>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2" name="Google Shape;82;p23"/>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Srinidhi\Desktop\logo.png" id="85" name="Google Shape;85;p23"/>
          <p:cNvPicPr preferRelativeResize="0"/>
          <p:nvPr/>
        </p:nvPicPr>
        <p:blipFill rotWithShape="1">
          <a:blip r:embed="rId2">
            <a:alphaModFix/>
          </a:blip>
          <a:srcRect b="0" l="0" r="0" t="0"/>
          <a:stretch/>
        </p:blipFill>
        <p:spPr>
          <a:xfrm>
            <a:off x="74729" y="-48825"/>
            <a:ext cx="2438400" cy="97720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6" name="Shape 86"/>
        <p:cNvGrpSpPr/>
        <p:nvPr/>
      </p:nvGrpSpPr>
      <p:grpSpPr>
        <a:xfrm>
          <a:off x="0" y="0"/>
          <a:ext cx="0" cy="0"/>
          <a:chOff x="0" y="0"/>
          <a:chExt cx="0" cy="0"/>
        </a:xfrm>
      </p:grpSpPr>
      <p:sp>
        <p:nvSpPr>
          <p:cNvPr id="87" name="Google Shape;87;p24"/>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4"/>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4"/>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4"/>
          <p:cNvSpPr/>
          <p:nvPr>
            <p:ph idx="2" type="pic"/>
          </p:nvPr>
        </p:nvSpPr>
        <p:spPr>
          <a:xfrm>
            <a:off x="15" y="0"/>
            <a:ext cx="12191985" cy="4915076"/>
          </a:xfrm>
          <a:prstGeom prst="rect">
            <a:avLst/>
          </a:prstGeom>
          <a:noFill/>
          <a:ln>
            <a:noFill/>
          </a:ln>
        </p:spPr>
      </p:sp>
      <p:sp>
        <p:nvSpPr>
          <p:cNvPr id="91" name="Google Shape;91;p24"/>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92" name="Google Shape;92;p2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Srinidhi\Desktop\logo.png" id="95" name="Google Shape;95;p24"/>
          <p:cNvPicPr preferRelativeResize="0"/>
          <p:nvPr/>
        </p:nvPicPr>
        <p:blipFill rotWithShape="1">
          <a:blip r:embed="rId2">
            <a:alphaModFix/>
          </a:blip>
          <a:srcRect b="0" l="0" r="0" t="0"/>
          <a:stretch/>
        </p:blipFill>
        <p:spPr>
          <a:xfrm>
            <a:off x="0" y="33090"/>
            <a:ext cx="2438400" cy="97720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5"/>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9" name="Google Shape;99;p2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Srinidhi\Desktop\logo.png" id="102" name="Google Shape;102;p25"/>
          <p:cNvPicPr preferRelativeResize="0"/>
          <p:nvPr/>
        </p:nvPicPr>
        <p:blipFill rotWithShape="1">
          <a:blip r:embed="rId2">
            <a:alphaModFix/>
          </a:blip>
          <a:srcRect b="0" l="0" r="0" t="0"/>
          <a:stretch/>
        </p:blipFill>
        <p:spPr>
          <a:xfrm>
            <a:off x="213281" y="33090"/>
            <a:ext cx="2438400" cy="97720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03" name="Shape 103"/>
        <p:cNvGrpSpPr/>
        <p:nvPr/>
      </p:nvGrpSpPr>
      <p:grpSpPr>
        <a:xfrm>
          <a:off x="0" y="0"/>
          <a:ext cx="0" cy="0"/>
          <a:chOff x="0" y="0"/>
          <a:chExt cx="0" cy="0"/>
        </a:xfrm>
      </p:grpSpPr>
      <p:sp>
        <p:nvSpPr>
          <p:cNvPr id="104" name="Google Shape;104;p2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6"/>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26"/>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8" name="Google Shape;108;p2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2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Srinidhi\Desktop\logo.png" id="111" name="Google Shape;111;p26"/>
          <p:cNvPicPr preferRelativeResize="0"/>
          <p:nvPr/>
        </p:nvPicPr>
        <p:blipFill rotWithShape="1">
          <a:blip r:embed="rId2">
            <a:alphaModFix/>
          </a:blip>
          <a:srcRect b="0" l="0" r="0" t="0"/>
          <a:stretch/>
        </p:blipFill>
        <p:spPr>
          <a:xfrm>
            <a:off x="0" y="-28927"/>
            <a:ext cx="2438400" cy="97720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5"/>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1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1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1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 name="Google Shape;16;p1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15"/>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
          <p:cNvSpPr txBox="1"/>
          <p:nvPr>
            <p:ph type="ctrTitle"/>
          </p:nvPr>
        </p:nvSpPr>
        <p:spPr>
          <a:xfrm>
            <a:off x="2185400" y="2152775"/>
            <a:ext cx="9515400" cy="9099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SzPts val="1100"/>
              <a:buNone/>
            </a:pPr>
            <a:r>
              <a:rPr lang="en-US" sz="2000">
                <a:solidFill>
                  <a:schemeClr val="dk1"/>
                </a:solidFill>
                <a:latin typeface="Arial"/>
                <a:ea typeface="Arial"/>
                <a:cs typeface="Arial"/>
                <a:sym typeface="Arial"/>
              </a:rPr>
              <a:t> </a:t>
            </a:r>
            <a:r>
              <a:rPr b="1" lang="en-US" sz="2000">
                <a:solidFill>
                  <a:schemeClr val="dk1"/>
                </a:solidFill>
                <a:latin typeface="Arial"/>
                <a:ea typeface="Arial"/>
                <a:cs typeface="Arial"/>
                <a:sym typeface="Arial"/>
              </a:rPr>
              <a:t>A    Cognitive   Psychology   Approach  to  A</a:t>
            </a:r>
            <a:r>
              <a:rPr b="1" lang="en-US" sz="2000">
                <a:solidFill>
                  <a:schemeClr val="dk1"/>
                </a:solidFill>
                <a:latin typeface="Arial"/>
                <a:ea typeface="Arial"/>
                <a:cs typeface="Arial"/>
                <a:sym typeface="Arial"/>
              </a:rPr>
              <a:t>nalyse  </a:t>
            </a:r>
            <a:r>
              <a:rPr b="1" lang="en-US" sz="2000">
                <a:solidFill>
                  <a:schemeClr val="dk1"/>
                </a:solidFill>
                <a:latin typeface="Arial"/>
                <a:ea typeface="Arial"/>
                <a:cs typeface="Arial"/>
                <a:sym typeface="Arial"/>
              </a:rPr>
              <a:t>Information using Machine Learning </a:t>
            </a:r>
            <a:endParaRPr b="1" sz="3200">
              <a:latin typeface="Times New Roman"/>
              <a:ea typeface="Times New Roman"/>
              <a:cs typeface="Times New Roman"/>
              <a:sym typeface="Times New Roman"/>
            </a:endParaRPr>
          </a:p>
        </p:txBody>
      </p:sp>
      <p:sp>
        <p:nvSpPr>
          <p:cNvPr id="118" name="Google Shape;118;p1"/>
          <p:cNvSpPr txBox="1"/>
          <p:nvPr>
            <p:ph idx="1" type="subTitle"/>
          </p:nvPr>
        </p:nvSpPr>
        <p:spPr>
          <a:xfrm>
            <a:off x="942800" y="4336800"/>
            <a:ext cx="5154900" cy="861300"/>
          </a:xfrm>
          <a:prstGeom prst="rect">
            <a:avLst/>
          </a:prstGeom>
          <a:noFill/>
          <a:ln>
            <a:noFill/>
          </a:ln>
        </p:spPr>
        <p:txBody>
          <a:bodyPr anchorCtr="0" anchor="t" bIns="45700" lIns="91425" spcFirstLastPara="1" rIns="91425" wrap="square" tIns="45700">
            <a:noAutofit/>
          </a:bodyPr>
          <a:lstStyle/>
          <a:p>
            <a:pPr indent="0" lvl="0" marL="0" rtl="0" algn="ctr">
              <a:spcBef>
                <a:spcPts val="1000"/>
              </a:spcBef>
              <a:spcAft>
                <a:spcPts val="0"/>
              </a:spcAft>
              <a:buClr>
                <a:schemeClr val="dk1"/>
              </a:buClr>
              <a:buSzPts val="1100"/>
              <a:buFont typeface="Arial"/>
              <a:buNone/>
            </a:pPr>
            <a:r>
              <a:rPr b="1" lang="en-US" sz="2000">
                <a:solidFill>
                  <a:schemeClr val="dk1"/>
                </a:solidFill>
                <a:latin typeface="Arial"/>
                <a:ea typeface="Arial"/>
                <a:cs typeface="Arial"/>
                <a:sym typeface="Arial"/>
              </a:rPr>
              <a:t>By</a:t>
            </a:r>
            <a:endParaRPr b="1" sz="2000">
              <a:solidFill>
                <a:schemeClr val="dk1"/>
              </a:solidFill>
              <a:latin typeface="Arial"/>
              <a:ea typeface="Arial"/>
              <a:cs typeface="Arial"/>
              <a:sym typeface="Arial"/>
            </a:endParaRPr>
          </a:p>
          <a:p>
            <a:pPr indent="0" lvl="0" marL="0" rtl="0" algn="ctr">
              <a:spcBef>
                <a:spcPts val="1000"/>
              </a:spcBef>
              <a:spcAft>
                <a:spcPts val="0"/>
              </a:spcAft>
              <a:buClr>
                <a:schemeClr val="dk1"/>
              </a:buClr>
              <a:buSzPts val="1100"/>
              <a:buFont typeface="Arial"/>
              <a:buNone/>
            </a:pPr>
            <a:r>
              <a:rPr b="1" lang="en-US" sz="2000">
                <a:solidFill>
                  <a:schemeClr val="dk1"/>
                </a:solidFill>
                <a:latin typeface="Arial"/>
                <a:ea typeface="Arial"/>
                <a:cs typeface="Arial"/>
                <a:sym typeface="Arial"/>
              </a:rPr>
              <a:t>Aryan Kumar  1MS22CS035</a:t>
            </a:r>
            <a:endParaRPr b="1" sz="2000">
              <a:solidFill>
                <a:schemeClr val="dk1"/>
              </a:solidFill>
              <a:latin typeface="Arial"/>
              <a:ea typeface="Arial"/>
              <a:cs typeface="Arial"/>
              <a:sym typeface="Arial"/>
            </a:endParaRPr>
          </a:p>
          <a:p>
            <a:pPr indent="0" lvl="0" marL="0" rtl="0" algn="ctr">
              <a:spcBef>
                <a:spcPts val="1000"/>
              </a:spcBef>
              <a:spcAft>
                <a:spcPts val="0"/>
              </a:spcAft>
              <a:buClr>
                <a:schemeClr val="dk1"/>
              </a:buClr>
              <a:buSzPts val="1100"/>
              <a:buFont typeface="Arial"/>
              <a:buNone/>
            </a:pPr>
            <a:r>
              <a:rPr b="1" lang="en-US" sz="2000">
                <a:solidFill>
                  <a:schemeClr val="dk1"/>
                </a:solidFill>
                <a:latin typeface="Arial"/>
                <a:ea typeface="Arial"/>
                <a:cs typeface="Arial"/>
                <a:sym typeface="Arial"/>
              </a:rPr>
              <a:t>Basavaraj Bhajantri   1MS22CS041</a:t>
            </a:r>
            <a:endParaRPr b="1" sz="2000">
              <a:solidFill>
                <a:schemeClr val="dk1"/>
              </a:solidFill>
              <a:latin typeface="Arial"/>
              <a:ea typeface="Arial"/>
              <a:cs typeface="Arial"/>
              <a:sym typeface="Arial"/>
            </a:endParaRPr>
          </a:p>
          <a:p>
            <a:pPr indent="0" lvl="0" marL="0" rtl="0" algn="ctr">
              <a:spcBef>
                <a:spcPts val="1000"/>
              </a:spcBef>
              <a:spcAft>
                <a:spcPts val="0"/>
              </a:spcAft>
              <a:buClr>
                <a:schemeClr val="dk1"/>
              </a:buClr>
              <a:buSzPts val="1100"/>
              <a:buFont typeface="Arial"/>
              <a:buNone/>
            </a:pPr>
            <a:r>
              <a:rPr b="1" lang="en-US" sz="2000">
                <a:solidFill>
                  <a:schemeClr val="dk1"/>
                </a:solidFill>
                <a:latin typeface="Arial"/>
                <a:ea typeface="Arial"/>
                <a:cs typeface="Arial"/>
                <a:sym typeface="Arial"/>
              </a:rPr>
              <a:t>Hariprasad B R   1MS22CS057</a:t>
            </a:r>
            <a:endParaRPr b="1" sz="2000">
              <a:solidFill>
                <a:schemeClr val="dk1"/>
              </a:solidFill>
              <a:latin typeface="Arial"/>
              <a:ea typeface="Arial"/>
              <a:cs typeface="Arial"/>
              <a:sym typeface="Arial"/>
            </a:endParaRPr>
          </a:p>
          <a:p>
            <a:pPr indent="0" lvl="0" marL="0" rtl="0" algn="ctr">
              <a:spcBef>
                <a:spcPts val="1000"/>
              </a:spcBef>
              <a:spcAft>
                <a:spcPts val="0"/>
              </a:spcAft>
              <a:buClr>
                <a:schemeClr val="dk1"/>
              </a:buClr>
              <a:buSzPts val="1100"/>
              <a:buFont typeface="Arial"/>
              <a:buNone/>
            </a:pPr>
            <a:r>
              <a:rPr b="1" lang="en-US" sz="2000">
                <a:solidFill>
                  <a:schemeClr val="dk1"/>
                </a:solidFill>
                <a:latin typeface="Arial"/>
                <a:ea typeface="Arial"/>
                <a:cs typeface="Arial"/>
                <a:sym typeface="Arial"/>
              </a:rPr>
              <a:t>I Suprabhath Reddy   1MS22CS065</a:t>
            </a:r>
            <a:endParaRPr b="1" sz="2000">
              <a:solidFill>
                <a:schemeClr val="dk1"/>
              </a:solidFill>
              <a:latin typeface="Arial"/>
              <a:ea typeface="Arial"/>
              <a:cs typeface="Arial"/>
              <a:sym typeface="Arial"/>
            </a:endParaRPr>
          </a:p>
          <a:p>
            <a:pPr indent="-355600" lvl="0" marL="457200" rtl="0" algn="ctr">
              <a:lnSpc>
                <a:spcPct val="90000"/>
              </a:lnSpc>
              <a:spcBef>
                <a:spcPts val="1200"/>
              </a:spcBef>
              <a:spcAft>
                <a:spcPts val="0"/>
              </a:spcAft>
              <a:buSzPts val="2400"/>
              <a:buNone/>
            </a:pPr>
            <a:r>
              <a:t/>
            </a:r>
            <a:endParaRPr b="1" sz="2000">
              <a:latin typeface="Times New Roman"/>
              <a:ea typeface="Times New Roman"/>
              <a:cs typeface="Times New Roman"/>
              <a:sym typeface="Times New Roman"/>
            </a:endParaRPr>
          </a:p>
          <a:p>
            <a:pPr indent="-355600" lvl="0" marL="457200" rtl="0" algn="ctr">
              <a:lnSpc>
                <a:spcPct val="90000"/>
              </a:lnSpc>
              <a:spcBef>
                <a:spcPts val="1200"/>
              </a:spcBef>
              <a:spcAft>
                <a:spcPts val="0"/>
              </a:spcAft>
              <a:buSzPts val="2400"/>
              <a:buNone/>
            </a:pPr>
            <a:r>
              <a:t/>
            </a:r>
            <a:endParaRPr b="1" sz="2000">
              <a:latin typeface="Times New Roman"/>
              <a:ea typeface="Times New Roman"/>
              <a:cs typeface="Times New Roman"/>
              <a:sym typeface="Times New Roman"/>
            </a:endParaRPr>
          </a:p>
          <a:p>
            <a:pPr indent="-355600" lvl="0" marL="457200" rtl="0" algn="ctr">
              <a:lnSpc>
                <a:spcPct val="90000"/>
              </a:lnSpc>
              <a:spcBef>
                <a:spcPts val="1200"/>
              </a:spcBef>
              <a:spcAft>
                <a:spcPts val="0"/>
              </a:spcAft>
              <a:buSzPts val="2400"/>
              <a:buNone/>
            </a:pPr>
            <a:r>
              <a:t/>
            </a:r>
            <a:endParaRPr b="1" sz="2000">
              <a:latin typeface="Times New Roman"/>
              <a:ea typeface="Times New Roman"/>
              <a:cs typeface="Times New Roman"/>
              <a:sym typeface="Times New Roman"/>
            </a:endParaRPr>
          </a:p>
        </p:txBody>
      </p:sp>
      <p:sp>
        <p:nvSpPr>
          <p:cNvPr id="119" name="Google Shape;119;p1"/>
          <p:cNvSpPr txBox="1"/>
          <p:nvPr/>
        </p:nvSpPr>
        <p:spPr>
          <a:xfrm>
            <a:off x="5331535" y="555446"/>
            <a:ext cx="5500054"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Department of  Computer Science and Engineering</a:t>
            </a:r>
            <a:endParaRPr/>
          </a:p>
        </p:txBody>
      </p:sp>
      <p:sp>
        <p:nvSpPr>
          <p:cNvPr id="120" name="Google Shape;120;p1"/>
          <p:cNvSpPr/>
          <p:nvPr/>
        </p:nvSpPr>
        <p:spPr>
          <a:xfrm>
            <a:off x="8244627" y="4219425"/>
            <a:ext cx="3096000" cy="8613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Under the Guidance of</a:t>
            </a:r>
            <a:endParaRPr b="1" i="0" sz="1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1" lang="en-US" sz="1800">
                <a:solidFill>
                  <a:schemeClr val="dk1"/>
                </a:solidFill>
              </a:rPr>
              <a:t>Mrs Akshatha  S Bayyar</a:t>
            </a:r>
            <a:endParaRPr b="1" sz="1800">
              <a:solidFill>
                <a:schemeClr val="dk1"/>
              </a:solidFill>
            </a:endParaRPr>
          </a:p>
          <a:p>
            <a:pPr indent="0" lvl="0" marL="0" marR="0" rtl="0" algn="ctr">
              <a:lnSpc>
                <a:spcPct val="100000"/>
              </a:lnSpc>
              <a:spcBef>
                <a:spcPts val="0"/>
              </a:spcBef>
              <a:spcAft>
                <a:spcPts val="0"/>
              </a:spcAft>
              <a:buNone/>
            </a:pPr>
            <a:r>
              <a:rPr b="1" lang="en-US" sz="1800">
                <a:solidFill>
                  <a:schemeClr val="dk1"/>
                </a:solidFill>
              </a:rPr>
              <a:t>Assistant</a:t>
            </a:r>
            <a:r>
              <a:rPr b="1" lang="en-US" sz="1800">
                <a:solidFill>
                  <a:schemeClr val="dk1"/>
                </a:solidFill>
              </a:rPr>
              <a:t> Professor</a:t>
            </a:r>
            <a:endParaRPr b="1"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608850e775_0_29"/>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127" name="Google Shape;127;g3608850e775_0_29"/>
          <p:cNvSpPr txBox="1"/>
          <p:nvPr/>
        </p:nvSpPr>
        <p:spPr>
          <a:xfrm>
            <a:off x="1423275" y="2750950"/>
            <a:ext cx="9718800" cy="2789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b="1" lang="en-US" sz="1800">
                <a:solidFill>
                  <a:schemeClr val="dk1"/>
                </a:solidFill>
                <a:latin typeface="Times New Roman"/>
                <a:ea typeface="Times New Roman"/>
                <a:cs typeface="Times New Roman"/>
                <a:sym typeface="Times New Roman"/>
              </a:rPr>
              <a:t>Objectives: </a:t>
            </a:r>
            <a:endParaRPr b="1" sz="1800">
              <a:solidFill>
                <a:schemeClr val="dk1"/>
              </a:solidFill>
              <a:latin typeface="Times New Roman"/>
              <a:ea typeface="Times New Roman"/>
              <a:cs typeface="Times New Roman"/>
              <a:sym typeface="Times New Roman"/>
            </a:endParaRPr>
          </a:p>
          <a:p>
            <a:pPr indent="-342900" lvl="0" marL="0" marR="0" rtl="0" algn="just">
              <a:lnSpc>
                <a:spcPct val="150000"/>
              </a:lnSpc>
              <a:spcBef>
                <a:spcPts val="0"/>
              </a:spcBef>
              <a:spcAft>
                <a:spcPts val="0"/>
              </a:spcAft>
              <a:buClr>
                <a:schemeClr val="dk1"/>
              </a:buClr>
              <a:buSzPts val="1800"/>
              <a:buFont typeface="Times New Roman"/>
              <a:buChar char="●"/>
            </a:pPr>
            <a:r>
              <a:rPr lang="en-US" sz="1800">
                <a:solidFill>
                  <a:schemeClr val="dk1"/>
                </a:solidFill>
                <a:highlight>
                  <a:srgbClr val="FFFFFF"/>
                </a:highlight>
                <a:latin typeface="Times New Roman"/>
                <a:ea typeface="Times New Roman"/>
                <a:cs typeface="Times New Roman"/>
                <a:sym typeface="Times New Roman"/>
              </a:rPr>
              <a:t>To develop a cognitive psychology-based user classification system that utilizes MBTI profiling and  emotion analysis for accurate personality and state detection.</a:t>
            </a:r>
            <a:endParaRPr sz="1800">
              <a:solidFill>
                <a:schemeClr val="dk1"/>
              </a:solidFill>
              <a:highlight>
                <a:srgbClr val="FFFFFF"/>
              </a:highlight>
              <a:latin typeface="Times New Roman"/>
              <a:ea typeface="Times New Roman"/>
              <a:cs typeface="Times New Roman"/>
              <a:sym typeface="Times New Roman"/>
            </a:endParaRPr>
          </a:p>
          <a:p>
            <a:pPr indent="-342900" lvl="0" marL="0" marR="0" rtl="0" algn="just">
              <a:lnSpc>
                <a:spcPct val="150000"/>
              </a:lnSpc>
              <a:spcBef>
                <a:spcPts val="0"/>
              </a:spcBef>
              <a:spcAft>
                <a:spcPts val="0"/>
              </a:spcAft>
              <a:buClr>
                <a:schemeClr val="dk1"/>
              </a:buClr>
              <a:buSzPts val="1800"/>
              <a:buFont typeface="Times New Roman"/>
              <a:buChar char="●"/>
            </a:pPr>
            <a:r>
              <a:rPr lang="en-US" sz="1800">
                <a:solidFill>
                  <a:schemeClr val="dk1"/>
                </a:solidFill>
                <a:highlight>
                  <a:srgbClr val="FFFFFF"/>
                </a:highlight>
                <a:latin typeface="Times New Roman"/>
                <a:ea typeface="Times New Roman"/>
                <a:cs typeface="Times New Roman"/>
                <a:sym typeface="Times New Roman"/>
              </a:rPr>
              <a:t>To implement a personalized response generation engine that adapts conversational style and support strategies based on detected emotional state, academic context, and user personality.</a:t>
            </a:r>
            <a:endParaRPr sz="1800">
              <a:solidFill>
                <a:schemeClr val="dk1"/>
              </a:solidFill>
              <a:highlight>
                <a:srgbClr val="FFFFFF"/>
              </a:highlight>
              <a:latin typeface="Times New Roman"/>
              <a:ea typeface="Times New Roman"/>
              <a:cs typeface="Times New Roman"/>
              <a:sym typeface="Times New Roman"/>
            </a:endParaRPr>
          </a:p>
          <a:p>
            <a:pPr indent="-342900" lvl="0" marL="0" marR="0" rtl="0" algn="just">
              <a:lnSpc>
                <a:spcPct val="150000"/>
              </a:lnSpc>
              <a:spcBef>
                <a:spcPts val="0"/>
              </a:spcBef>
              <a:spcAft>
                <a:spcPts val="0"/>
              </a:spcAft>
              <a:buClr>
                <a:schemeClr val="dk1"/>
              </a:buClr>
              <a:buSzPts val="1800"/>
              <a:buFont typeface="Times New Roman"/>
              <a:buChar char="●"/>
            </a:pPr>
            <a:r>
              <a:rPr lang="en-US" sz="1800">
                <a:solidFill>
                  <a:schemeClr val="dk1"/>
                </a:solidFill>
                <a:highlight>
                  <a:srgbClr val="FFFFFF"/>
                </a:highlight>
                <a:latin typeface="Times New Roman"/>
                <a:ea typeface="Times New Roman"/>
                <a:cs typeface="Times New Roman"/>
                <a:sym typeface="Times New Roman"/>
              </a:rPr>
              <a:t>To enable cross-linguistic adaptation by providing culturally sensitive, emotion-aware responses in both English and Kannada, ensuring inclusivity and accessibility for regional language users.</a:t>
            </a:r>
            <a:endParaRPr b="1" sz="1800">
              <a:solidFill>
                <a:schemeClr val="dk2"/>
              </a:solidFill>
              <a:latin typeface="Times New Roman"/>
              <a:ea typeface="Times New Roman"/>
              <a:cs typeface="Times New Roman"/>
              <a:sym typeface="Times New Roman"/>
            </a:endParaRPr>
          </a:p>
        </p:txBody>
      </p:sp>
      <p:sp>
        <p:nvSpPr>
          <p:cNvPr id="128" name="Google Shape;128;g3608850e775_0_29"/>
          <p:cNvSpPr txBox="1"/>
          <p:nvPr/>
        </p:nvSpPr>
        <p:spPr>
          <a:xfrm>
            <a:off x="1194675" y="1130075"/>
            <a:ext cx="10176000" cy="177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800">
                <a:solidFill>
                  <a:schemeClr val="dk1"/>
                </a:solidFill>
                <a:latin typeface="Times New Roman"/>
                <a:ea typeface="Times New Roman"/>
                <a:cs typeface="Times New Roman"/>
                <a:sym typeface="Times New Roman"/>
              </a:rPr>
              <a:t>Project Overview</a:t>
            </a:r>
            <a:endParaRPr b="1" sz="1800">
              <a:solidFill>
                <a:schemeClr val="dk1"/>
              </a:solidFill>
              <a:latin typeface="Times New Roman"/>
              <a:ea typeface="Times New Roman"/>
              <a:cs typeface="Times New Roman"/>
              <a:sym typeface="Times New Roman"/>
            </a:endParaRPr>
          </a:p>
          <a:p>
            <a:pPr indent="0" lvl="0" marL="0" rtl="0" algn="l">
              <a:lnSpc>
                <a:spcPct val="115000"/>
              </a:lnSpc>
              <a:spcBef>
                <a:spcPts val="300"/>
              </a:spcBef>
              <a:spcAft>
                <a:spcPts val="0"/>
              </a:spcAft>
              <a:buNone/>
            </a:pPr>
            <a:r>
              <a:rPr lang="en-US" sz="1800">
                <a:solidFill>
                  <a:schemeClr val="dk1"/>
                </a:solidFill>
                <a:latin typeface="Times New Roman"/>
                <a:ea typeface="Times New Roman"/>
                <a:cs typeface="Times New Roman"/>
                <a:sym typeface="Times New Roman"/>
              </a:rPr>
              <a:t>This project develops an intelligent chatbot system that combines cognitive psychology principles with machine learning to create personalized interactions . The system analyzes user context, emotions, and personality traits to provide adaptive responses tailored to individual psychological profiles.</a:t>
            </a:r>
            <a:endParaRPr sz="1800">
              <a:solidFill>
                <a:schemeClr val="dk2"/>
              </a:solidFill>
              <a:latin typeface="Calibri"/>
              <a:ea typeface="Calibri"/>
              <a:cs typeface="Calibri"/>
              <a:sym typeface="Calibri"/>
            </a:endParaRPr>
          </a:p>
          <a:p>
            <a:pPr indent="0" lvl="0" marL="0" rtl="0" algn="l">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608850e775_0_15"/>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pic>
        <p:nvPicPr>
          <p:cNvPr id="135" name="Google Shape;135;g3608850e775_0_15"/>
          <p:cNvPicPr preferRelativeResize="0"/>
          <p:nvPr/>
        </p:nvPicPr>
        <p:blipFill>
          <a:blip r:embed="rId3">
            <a:alphaModFix/>
          </a:blip>
          <a:stretch>
            <a:fillRect/>
          </a:stretch>
        </p:blipFill>
        <p:spPr>
          <a:xfrm>
            <a:off x="764725" y="351500"/>
            <a:ext cx="10942196" cy="61549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
          <p:cNvSpPr txBox="1"/>
          <p:nvPr>
            <p:ph type="title"/>
          </p:nvPr>
        </p:nvSpPr>
        <p:spPr>
          <a:xfrm>
            <a:off x="2399606" y="55420"/>
            <a:ext cx="7270865" cy="860821"/>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002060"/>
              </a:buClr>
              <a:buSzPts val="4000"/>
              <a:buFont typeface="Times New Roman"/>
              <a:buNone/>
            </a:pPr>
            <a:r>
              <a:rPr b="1" lang="en-US" sz="4000">
                <a:solidFill>
                  <a:srgbClr val="002060"/>
                </a:solidFill>
                <a:latin typeface="Times New Roman"/>
                <a:ea typeface="Times New Roman"/>
                <a:cs typeface="Times New Roman"/>
                <a:sym typeface="Times New Roman"/>
              </a:rPr>
              <a:t>Literature Survey</a:t>
            </a:r>
            <a:endParaRPr b="1" sz="4000">
              <a:solidFill>
                <a:srgbClr val="002060"/>
              </a:solidFill>
              <a:latin typeface="Times New Roman"/>
              <a:ea typeface="Times New Roman"/>
              <a:cs typeface="Times New Roman"/>
              <a:sym typeface="Times New Roman"/>
            </a:endParaRPr>
          </a:p>
        </p:txBody>
      </p:sp>
      <p:graphicFrame>
        <p:nvGraphicFramePr>
          <p:cNvPr id="141" name="Google Shape;141;p3"/>
          <p:cNvGraphicFramePr/>
          <p:nvPr/>
        </p:nvGraphicFramePr>
        <p:xfrm>
          <a:off x="69275" y="947932"/>
          <a:ext cx="3000000" cy="3000000"/>
        </p:xfrm>
        <a:graphic>
          <a:graphicData uri="http://schemas.openxmlformats.org/drawingml/2006/table">
            <a:tbl>
              <a:tblPr bandRow="1" firstRow="1">
                <a:noFill/>
                <a:tableStyleId>{F2B6354A-8ADA-4A7B-BB70-145939D13EDB}</a:tableStyleId>
              </a:tblPr>
              <a:tblGrid>
                <a:gridCol w="3200400"/>
                <a:gridCol w="2805550"/>
                <a:gridCol w="3002975"/>
                <a:gridCol w="3002975"/>
              </a:tblGrid>
              <a:tr h="375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Title,  Author and Year</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Technique/Methodology used</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Result</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Remarks</a:t>
                      </a:r>
                      <a:endParaRPr sz="1400" u="none" cap="none" strike="noStrike">
                        <a:latin typeface="Times New Roman"/>
                        <a:ea typeface="Times New Roman"/>
                        <a:cs typeface="Times New Roman"/>
                        <a:sym typeface="Times New Roman"/>
                      </a:endParaRPr>
                    </a:p>
                  </a:txBody>
                  <a:tcPr marT="45725" marB="45725" marR="91450" marL="91450"/>
                </a:tc>
              </a:tr>
              <a:tr h="975175">
                <a:tc>
                  <a:txBody>
                    <a:bodyPr/>
                    <a:lstStyle/>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“Kannada NLP Toolkit: Building Tools for Low Resource Storage Languages”, Rao et al., 2019</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200">
                          <a:latin typeface="Times New Roman"/>
                          <a:ea typeface="Times New Roman"/>
                          <a:cs typeface="Times New Roman"/>
                          <a:sym typeface="Times New Roman"/>
                        </a:rPr>
                        <a:t>Rule-based + Statistical NLP for Kannada</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just">
                        <a:lnSpc>
                          <a:spcPct val="115000"/>
                        </a:lnSpc>
                        <a:spcBef>
                          <a:spcPts val="100"/>
                        </a:spcBef>
                        <a:spcAft>
                          <a:spcPts val="0"/>
                        </a:spcAft>
                        <a:buNone/>
                      </a:pPr>
                      <a:r>
                        <a:rPr lang="en-US"/>
                        <a:t>Built basic NLP tools for Kannada</a:t>
                      </a:r>
                      <a:endParaRPr sz="1400" u="none" cap="none" strike="noStrike">
                        <a:latin typeface="Times New Roman"/>
                        <a:ea typeface="Times New Roman"/>
                        <a:cs typeface="Times New Roman"/>
                        <a:sym typeface="Times New Roman"/>
                      </a:endParaRPr>
                    </a:p>
                  </a:txBody>
                  <a:tcPr marT="114300" marB="114300" marR="114300" marL="114300">
                    <a:lnB cap="flat" cmpd="sng" w="76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This paper addresses the lack of NLP tools for Kannada, a low-resource language. The toolkit lays the groundwork for more complex systems but has limited vocabulary and lacks contextual understanding. It highlights a research gap in creating deep learning-based or transformer-based models for Kannada NLP.</a:t>
                      </a:r>
                      <a:endParaRPr sz="1400" u="none" cap="none" strike="noStrike">
                        <a:latin typeface="Times New Roman"/>
                        <a:ea typeface="Times New Roman"/>
                        <a:cs typeface="Times New Roman"/>
                        <a:sym typeface="Times New Roman"/>
                      </a:endParaRPr>
                    </a:p>
                  </a:txBody>
                  <a:tcPr marT="45725" marB="45725" marR="91450" marL="91450"/>
                </a:tc>
              </a:tr>
              <a:tr h="1130475">
                <a:tc>
                  <a:txBody>
                    <a:bodyPr/>
                    <a:lstStyle/>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Emotion-Aware Chatbot Using Deep Learning</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sz="1200">
                          <a:latin typeface="Times New Roman"/>
                          <a:ea typeface="Times New Roman"/>
                          <a:cs typeface="Times New Roman"/>
                          <a:sym typeface="Times New Roman"/>
                        </a:rPr>
                        <a:t>Patel &amp; Singh, 2020</a:t>
                      </a:r>
                      <a:endParaRPr>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200">
                          <a:latin typeface="Times New Roman"/>
                          <a:ea typeface="Times New Roman"/>
                          <a:cs typeface="Times New Roman"/>
                          <a:sym typeface="Times New Roman"/>
                        </a:rPr>
                        <a:t>CNN + LSTM with emotion datasets</a:t>
                      </a:r>
                      <a:endParaRPr sz="1400" u="none" cap="none" strike="noStrike">
                        <a:latin typeface="Times New Roman"/>
                        <a:ea typeface="Times New Roman"/>
                        <a:cs typeface="Times New Roman"/>
                        <a:sym typeface="Times New Roman"/>
                      </a:endParaRPr>
                    </a:p>
                  </a:txBody>
                  <a:tcPr marT="45725" marB="45725" marR="91450" marL="91450">
                    <a:lnR cap="flat" cmpd="sng" w="7625">
                      <a:solidFill>
                        <a:srgbClr val="000000"/>
                      </a:solidFill>
                      <a:prstDash val="solid"/>
                      <a:round/>
                      <a:headEnd len="sm" w="sm" type="none"/>
                      <a:tailEnd len="sm" w="sm" type="none"/>
                    </a:lnR>
                  </a:tcPr>
                </a:tc>
                <a:tc>
                  <a:txBody>
                    <a:bodyPr/>
                    <a:lstStyle/>
                    <a:p>
                      <a:pPr indent="0" lvl="0" marL="0" marR="0" rtl="0" algn="just">
                        <a:lnSpc>
                          <a:spcPct val="115000"/>
                        </a:lnSpc>
                        <a:spcBef>
                          <a:spcPts val="100"/>
                        </a:spcBef>
                        <a:spcAft>
                          <a:spcPts val="0"/>
                        </a:spcAft>
                        <a:buNone/>
                      </a:pPr>
                      <a:r>
                        <a:rPr lang="en-US" sz="1200"/>
                        <a:t>~70% emotion detection accuracy</a:t>
                      </a:r>
                      <a:endParaRPr sz="1200"/>
                    </a:p>
                  </a:txBody>
                  <a:tcPr marT="91425" marB="91425" marR="91425" marL="9142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The paper presents a straightforward deep learning approach for emotion recognition in English text. Its simplicity makes it easy to implement, but it lacks multilingual capabilities and deeper context understanding. The study reveals a gap in adapting such architectures for low-resource or multilingual environments.</a:t>
                      </a:r>
                      <a:endParaRPr sz="1400" u="none" cap="none" strike="noStrike">
                        <a:latin typeface="Times New Roman"/>
                        <a:ea typeface="Times New Roman"/>
                        <a:cs typeface="Times New Roman"/>
                        <a:sym typeface="Times New Roman"/>
                      </a:endParaRPr>
                    </a:p>
                  </a:txBody>
                  <a:tcPr marT="45725" marB="45725" marR="91450" marL="91450">
                    <a:lnL cap="flat" cmpd="sng" w="7625">
                      <a:solidFill>
                        <a:srgbClr val="000000"/>
                      </a:solidFill>
                      <a:prstDash val="solid"/>
                      <a:round/>
                      <a:headEnd len="sm" w="sm" type="none"/>
                      <a:tailEnd len="sm" w="sm" type="none"/>
                    </a:lnL>
                  </a:tcPr>
                </a:tc>
              </a:tr>
            </a:tbl>
          </a:graphicData>
        </a:graphic>
      </p:graphicFrame>
      <p:sp>
        <p:nvSpPr>
          <p:cNvPr id="142" name="Google Shape;142;p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4"/>
          <p:cNvSpPr txBox="1"/>
          <p:nvPr>
            <p:ph type="title"/>
          </p:nvPr>
        </p:nvSpPr>
        <p:spPr>
          <a:xfrm>
            <a:off x="2399606" y="55420"/>
            <a:ext cx="7270800" cy="860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002060"/>
              </a:buClr>
              <a:buSzPts val="4000"/>
              <a:buFont typeface="Times New Roman"/>
              <a:buNone/>
            </a:pPr>
            <a:r>
              <a:rPr b="1" lang="en-US" sz="4000">
                <a:solidFill>
                  <a:srgbClr val="002060"/>
                </a:solidFill>
                <a:latin typeface="Times New Roman"/>
                <a:ea typeface="Times New Roman"/>
                <a:cs typeface="Times New Roman"/>
                <a:sym typeface="Times New Roman"/>
              </a:rPr>
              <a:t>Literature Survey</a:t>
            </a:r>
            <a:endParaRPr b="1" sz="4000">
              <a:solidFill>
                <a:srgbClr val="002060"/>
              </a:solidFill>
              <a:latin typeface="Times New Roman"/>
              <a:ea typeface="Times New Roman"/>
              <a:cs typeface="Times New Roman"/>
              <a:sym typeface="Times New Roman"/>
            </a:endParaRPr>
          </a:p>
        </p:txBody>
      </p:sp>
      <p:graphicFrame>
        <p:nvGraphicFramePr>
          <p:cNvPr id="148" name="Google Shape;148;p4"/>
          <p:cNvGraphicFramePr/>
          <p:nvPr/>
        </p:nvGraphicFramePr>
        <p:xfrm>
          <a:off x="180100" y="478432"/>
          <a:ext cx="3000000" cy="3000000"/>
        </p:xfrm>
        <a:graphic>
          <a:graphicData uri="http://schemas.openxmlformats.org/drawingml/2006/table">
            <a:tbl>
              <a:tblPr bandRow="1" firstRow="1">
                <a:noFill/>
                <a:tableStyleId>{F2B6354A-8ADA-4A7B-BB70-145939D13EDB}</a:tableStyleId>
              </a:tblPr>
              <a:tblGrid>
                <a:gridCol w="3200400"/>
                <a:gridCol w="2805550"/>
                <a:gridCol w="3002975"/>
                <a:gridCol w="3002975"/>
              </a:tblGrid>
              <a:tr h="375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Title,  Author and Year</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Technique/Methodology used</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Result</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Remarks</a:t>
                      </a:r>
                      <a:endParaRPr sz="1400" u="none" cap="none" strike="noStrike">
                        <a:latin typeface="Times New Roman"/>
                        <a:ea typeface="Times New Roman"/>
                        <a:cs typeface="Times New Roman"/>
                        <a:sym typeface="Times New Roman"/>
                      </a:endParaRPr>
                    </a:p>
                  </a:txBody>
                  <a:tcPr marT="45725" marB="45725" marR="91450" marL="91450"/>
                </a:tc>
              </a:tr>
              <a:tr h="1130475">
                <a:tc>
                  <a:txBody>
                    <a:bodyPr/>
                    <a:lstStyle/>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“Personalized Conversational Agents Using Hybrid AI Models”, Chen et al.,2022</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lang="en-US">
                          <a:latin typeface="Times New Roman"/>
                          <a:ea typeface="Times New Roman"/>
                          <a:cs typeface="Times New Roman"/>
                          <a:sym typeface="Times New Roman"/>
                        </a:rPr>
                        <a:t>Rule-based + Machine Learning hybrid system</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lang="en-US">
                          <a:latin typeface="Times New Roman"/>
                          <a:ea typeface="Times New Roman"/>
                          <a:cs typeface="Times New Roman"/>
                          <a:sym typeface="Times New Roman"/>
                        </a:rPr>
                        <a:t>Generated responses tailored to user mood and context</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lang="en-US">
                          <a:latin typeface="Times New Roman"/>
                          <a:ea typeface="Times New Roman"/>
                          <a:cs typeface="Times New Roman"/>
                          <a:sym typeface="Times New Roman"/>
                        </a:rPr>
                        <a:t>The paper demonstrates how combining rule-based and ML techniques can lead to adaptive, context-aware chatbots. It effectively improves user interaction through emotion and state tracking. However, it lacks support for multiple languages and could be enhanced by integrating multilingual NLP models.</a:t>
                      </a:r>
                      <a:endParaRPr sz="1400" u="none" cap="none" strike="noStrike">
                        <a:latin typeface="Times New Roman"/>
                        <a:ea typeface="Times New Roman"/>
                        <a:cs typeface="Times New Roman"/>
                        <a:sym typeface="Times New Roman"/>
                      </a:endParaRPr>
                    </a:p>
                  </a:txBody>
                  <a:tcPr marT="45725" marB="45725" marR="91450" marL="91450"/>
                </a:tc>
              </a:tr>
              <a:tr h="975175">
                <a:tc>
                  <a:txBody>
                    <a:bodyPr/>
                    <a:lstStyle/>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“Cross-Lingual Transfer Learning for Emotion Recognition”, Banerjee et al., 2021</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Cross-lingual BERT fine-tuning</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Effective performance in emotion recognition for low-resource Indian languages</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rtl="0" algn="l">
                        <a:lnSpc>
                          <a:spcPct val="115000"/>
                        </a:lnSpc>
                        <a:spcBef>
                          <a:spcPts val="1200"/>
                        </a:spcBef>
                        <a:spcAft>
                          <a:spcPts val="1200"/>
                        </a:spcAft>
                        <a:buNone/>
                      </a:pPr>
                      <a:r>
                        <a:rPr lang="en-US">
                          <a:latin typeface="Times New Roman"/>
                          <a:ea typeface="Times New Roman"/>
                          <a:cs typeface="Times New Roman"/>
                          <a:sym typeface="Times New Roman"/>
                        </a:rPr>
                        <a:t>This study explores transfer learning with BERT to address low-resource language limitations. It proves that pre-trained multilingual models can generalize emotional understanding across languages. However, slight accuracy drop suggests a need for more domain-specific fine-tuning or supplementary training data.</a:t>
                      </a:r>
                      <a:endParaRPr>
                        <a:latin typeface="Times New Roman"/>
                        <a:ea typeface="Times New Roman"/>
                        <a:cs typeface="Times New Roman"/>
                        <a:sym typeface="Times New Roman"/>
                      </a:endParaRPr>
                    </a:p>
                  </a:txBody>
                  <a:tcPr marT="45725" marB="45725" marR="91450" marL="91450"/>
                </a:tc>
              </a:tr>
              <a:tr h="1130475">
                <a:tc>
                  <a:txBody>
                    <a:bodyPr/>
                    <a:lstStyle/>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“Personality-Aware Chatbot Using MBTI and Sentiment Analysis”, Verma et al., 2020</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Sentiment analysis + MBTI classification</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Improved user engagement and trust</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The paper integrates psychology-based user profiling (MBTI) with sentiment analysis to produce emotionally aligned responses. It enhances user satisfaction but may face scalability issues due to the complexity of real-time personality assessment. There's potential to combine this approach with adaptive learning techniques.</a:t>
                      </a:r>
                      <a:endParaRPr sz="1400" u="none" cap="none" strike="noStrike">
                        <a:latin typeface="Times New Roman"/>
                        <a:ea typeface="Times New Roman"/>
                        <a:cs typeface="Times New Roman"/>
                        <a:sym typeface="Times New Roman"/>
                      </a:endParaRPr>
                    </a:p>
                  </a:txBody>
                  <a:tcPr marT="45725" marB="45725" marR="91450" marL="91450"/>
                </a:tc>
              </a:tr>
            </a:tbl>
          </a:graphicData>
        </a:graphic>
      </p:graphicFrame>
      <p:sp>
        <p:nvSpPr>
          <p:cNvPr id="149" name="Google Shape;149;p4"/>
          <p:cNvSpPr txBox="1"/>
          <p:nvPr>
            <p:ph idx="12" type="sldNum"/>
          </p:nvPr>
        </p:nvSpPr>
        <p:spPr>
          <a:xfrm>
            <a:off x="9900458" y="6459785"/>
            <a:ext cx="1311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5"/>
          <p:cNvSpPr txBox="1"/>
          <p:nvPr>
            <p:ph idx="1" type="subTitle"/>
          </p:nvPr>
        </p:nvSpPr>
        <p:spPr>
          <a:xfrm>
            <a:off x="1100051" y="1036320"/>
            <a:ext cx="10058400" cy="45623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3000">
                <a:solidFill>
                  <a:schemeClr val="dk1"/>
                </a:solidFill>
                <a:latin typeface="Arial"/>
                <a:ea typeface="Arial"/>
                <a:cs typeface="Arial"/>
                <a:sym typeface="Arial"/>
              </a:rPr>
              <a:t>Identified Research Gaps</a:t>
            </a:r>
            <a:endParaRPr b="1" sz="3000">
              <a:solidFill>
                <a:schemeClr val="dk1"/>
              </a:solidFill>
              <a:latin typeface="Arial"/>
              <a:ea typeface="Arial"/>
              <a:cs typeface="Arial"/>
              <a:sym typeface="Arial"/>
            </a:endParaRPr>
          </a:p>
          <a:p>
            <a:pPr indent="-330200" lvl="0" marL="457200" rtl="0" algn="l">
              <a:lnSpc>
                <a:spcPct val="115000"/>
              </a:lnSpc>
              <a:spcBef>
                <a:spcPts val="1200"/>
              </a:spcBef>
              <a:spcAft>
                <a:spcPts val="0"/>
              </a:spcAft>
              <a:buClr>
                <a:schemeClr val="dk1"/>
              </a:buClr>
              <a:buSzPts val="1600"/>
              <a:buFont typeface="Arial"/>
              <a:buChar char="●"/>
            </a:pPr>
            <a:r>
              <a:rPr b="1" lang="en-US" sz="1600">
                <a:solidFill>
                  <a:schemeClr val="dk1"/>
                </a:solidFill>
                <a:latin typeface="Arial"/>
                <a:ea typeface="Arial"/>
                <a:cs typeface="Arial"/>
                <a:sym typeface="Arial"/>
              </a:rPr>
              <a:t>Lack of Dynamic Adaptation:</a:t>
            </a:r>
            <a:r>
              <a:rPr lang="en-US" sz="1600">
                <a:solidFill>
                  <a:schemeClr val="dk1"/>
                </a:solidFill>
                <a:latin typeface="Arial"/>
                <a:ea typeface="Arial"/>
                <a:cs typeface="Arial"/>
                <a:sym typeface="Arial"/>
              </a:rPr>
              <a:t> Existing static, one-size-fits-all conversational AI systems often fail to dynamically adapt to users  emotional states.</a:t>
            </a:r>
            <a:endParaRPr sz="1600">
              <a:solidFill>
                <a:schemeClr val="dk1"/>
              </a:solidFill>
              <a:latin typeface="Arial"/>
              <a:ea typeface="Arial"/>
              <a:cs typeface="Arial"/>
              <a:sym typeface="Arial"/>
            </a:endParaRPr>
          </a:p>
          <a:p>
            <a:pPr indent="-330200" lvl="0" marL="457200" rtl="0" algn="l">
              <a:lnSpc>
                <a:spcPct val="115000"/>
              </a:lnSpc>
              <a:spcBef>
                <a:spcPts val="0"/>
              </a:spcBef>
              <a:spcAft>
                <a:spcPts val="0"/>
              </a:spcAft>
              <a:buClr>
                <a:schemeClr val="dk1"/>
              </a:buClr>
              <a:buSzPts val="1600"/>
              <a:buFont typeface="Arial"/>
              <a:buChar char="●"/>
            </a:pPr>
            <a:r>
              <a:rPr b="1" lang="en-US" sz="1600">
                <a:solidFill>
                  <a:schemeClr val="dk1"/>
                </a:solidFill>
                <a:latin typeface="Arial"/>
                <a:ea typeface="Arial"/>
                <a:cs typeface="Arial"/>
                <a:sym typeface="Arial"/>
              </a:rPr>
              <a:t>Limited Regional Language Support:</a:t>
            </a:r>
            <a:r>
              <a:rPr lang="en-US" sz="1600">
                <a:solidFill>
                  <a:schemeClr val="dk1"/>
                </a:solidFill>
                <a:latin typeface="Arial"/>
                <a:ea typeface="Arial"/>
                <a:cs typeface="Arial"/>
                <a:sym typeface="Arial"/>
              </a:rPr>
              <a:t> There is an urgent need for accessible academic support tools for regional language speakers, such as Kannada, where culturally and emotionally aware AI support is largely absent.</a:t>
            </a:r>
            <a:endParaRPr sz="1600">
              <a:solidFill>
                <a:schemeClr val="dk1"/>
              </a:solidFill>
              <a:latin typeface="Arial"/>
              <a:ea typeface="Arial"/>
              <a:cs typeface="Arial"/>
              <a:sym typeface="Arial"/>
            </a:endParaRPr>
          </a:p>
          <a:p>
            <a:pPr indent="-330200" lvl="0" marL="457200" rtl="0" algn="l">
              <a:lnSpc>
                <a:spcPct val="115000"/>
              </a:lnSpc>
              <a:spcBef>
                <a:spcPts val="0"/>
              </a:spcBef>
              <a:spcAft>
                <a:spcPts val="0"/>
              </a:spcAft>
              <a:buClr>
                <a:schemeClr val="dk1"/>
              </a:buClr>
              <a:buSzPts val="1600"/>
              <a:buFont typeface="Arial"/>
              <a:buChar char="●"/>
            </a:pPr>
            <a:r>
              <a:rPr b="1" lang="en-US" sz="1600">
                <a:solidFill>
                  <a:schemeClr val="dk1"/>
                </a:solidFill>
                <a:latin typeface="Arial"/>
                <a:ea typeface="Arial"/>
                <a:cs typeface="Arial"/>
                <a:sym typeface="Arial"/>
              </a:rPr>
              <a:t>Incomplete Integration:</a:t>
            </a:r>
            <a:r>
              <a:rPr lang="en-US" sz="1600">
                <a:solidFill>
                  <a:schemeClr val="dk1"/>
                </a:solidFill>
                <a:latin typeface="Arial"/>
                <a:ea typeface="Arial"/>
                <a:cs typeface="Arial"/>
                <a:sym typeface="Arial"/>
              </a:rPr>
              <a:t> Few existing systems comprehensively integrate MBTI personality profiling, emotion detection, and multilingual support in a single framework.</a:t>
            </a:r>
            <a:endParaRPr sz="1600">
              <a:solidFill>
                <a:schemeClr val="dk1"/>
              </a:solidFill>
              <a:latin typeface="Arial"/>
              <a:ea typeface="Arial"/>
              <a:cs typeface="Arial"/>
              <a:sym typeface="Arial"/>
            </a:endParaRPr>
          </a:p>
          <a:p>
            <a:pPr indent="-330200" lvl="0" marL="457200" rtl="0" algn="l">
              <a:lnSpc>
                <a:spcPct val="115000"/>
              </a:lnSpc>
              <a:spcBef>
                <a:spcPts val="0"/>
              </a:spcBef>
              <a:spcAft>
                <a:spcPts val="0"/>
              </a:spcAft>
              <a:buClr>
                <a:schemeClr val="dk1"/>
              </a:buClr>
              <a:buSzPts val="1600"/>
              <a:buFont typeface="Arial"/>
              <a:buChar char="●"/>
            </a:pPr>
            <a:r>
              <a:rPr b="1" lang="en-US" sz="1600">
                <a:solidFill>
                  <a:schemeClr val="dk1"/>
                </a:solidFill>
                <a:latin typeface="Arial"/>
                <a:ea typeface="Arial"/>
                <a:cs typeface="Arial"/>
                <a:sym typeface="Arial"/>
              </a:rPr>
              <a:t>Scaling and Practical Limitations:</a:t>
            </a:r>
            <a:endParaRPr b="1" sz="1600">
              <a:solidFill>
                <a:schemeClr val="dk1"/>
              </a:solidFill>
              <a:latin typeface="Arial"/>
              <a:ea typeface="Arial"/>
              <a:cs typeface="Arial"/>
              <a:sym typeface="Arial"/>
            </a:endParaRPr>
          </a:p>
          <a:p>
            <a:pPr indent="-330200" lvl="1" marL="914400" rtl="0" algn="l">
              <a:lnSpc>
                <a:spcPct val="115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Many systems exploring empathetic dialogue generation lack </a:t>
            </a:r>
            <a:r>
              <a:rPr b="1" lang="en-US" sz="1600">
                <a:solidFill>
                  <a:schemeClr val="dk1"/>
                </a:solidFill>
                <a:latin typeface="Arial"/>
                <a:ea typeface="Arial"/>
                <a:cs typeface="Arial"/>
                <a:sym typeface="Arial"/>
              </a:rPr>
              <a:t>deep personality modeling.</a:t>
            </a:r>
            <a:endParaRPr b="1" sz="1600">
              <a:solidFill>
                <a:schemeClr val="dk1"/>
              </a:solidFill>
              <a:latin typeface="Arial"/>
              <a:ea typeface="Arial"/>
              <a:cs typeface="Arial"/>
              <a:sym typeface="Arial"/>
            </a:endParaRPr>
          </a:p>
          <a:p>
            <a:pPr indent="-330200" lvl="1" marL="914400" rtl="0" algn="l">
              <a:lnSpc>
                <a:spcPct val="115000"/>
              </a:lnSpc>
              <a:spcBef>
                <a:spcPts val="0"/>
              </a:spcBef>
              <a:spcAft>
                <a:spcPts val="0"/>
              </a:spcAft>
              <a:buClr>
                <a:schemeClr val="dk1"/>
              </a:buClr>
              <a:buSzPts val="1600"/>
              <a:buFont typeface="Arial"/>
              <a:buChar char="○"/>
            </a:pPr>
            <a:r>
              <a:rPr b="1" lang="en-US" sz="1600">
                <a:solidFill>
                  <a:schemeClr val="dk1"/>
                </a:solidFill>
                <a:latin typeface="Arial"/>
                <a:ea typeface="Arial"/>
                <a:cs typeface="Arial"/>
                <a:sym typeface="Arial"/>
              </a:rPr>
              <a:t>Multi-modal systems (</a:t>
            </a:r>
            <a:r>
              <a:rPr lang="en-US" sz="1600">
                <a:solidFill>
                  <a:schemeClr val="dk1"/>
                </a:solidFill>
                <a:latin typeface="Arial"/>
                <a:ea typeface="Arial"/>
                <a:cs typeface="Arial"/>
                <a:sym typeface="Arial"/>
              </a:rPr>
              <a:t>e.g., using voice or facial expressions) have been limited by hardware constraints or privacy concerns.</a:t>
            </a:r>
            <a:endParaRPr sz="1600">
              <a:solidFill>
                <a:schemeClr val="dk1"/>
              </a:solidFill>
              <a:latin typeface="Arial"/>
              <a:ea typeface="Arial"/>
              <a:cs typeface="Arial"/>
              <a:sym typeface="Arial"/>
            </a:endParaRPr>
          </a:p>
          <a:p>
            <a:pPr indent="-355600" lvl="0" marL="457200" rtl="0" algn="l">
              <a:lnSpc>
                <a:spcPct val="90000"/>
              </a:lnSpc>
              <a:spcBef>
                <a:spcPts val="1200"/>
              </a:spcBef>
              <a:spcAft>
                <a:spcPts val="0"/>
              </a:spcAft>
              <a:buSzPts val="2400"/>
              <a:buNone/>
            </a:pPr>
            <a:r>
              <a:t/>
            </a:r>
            <a:endParaRPr b="1"/>
          </a:p>
        </p:txBody>
      </p:sp>
      <p:sp>
        <p:nvSpPr>
          <p:cNvPr id="155" name="Google Shape;155;p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608850e775_0_40"/>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162" name="Google Shape;162;g3608850e775_0_40"/>
          <p:cNvSpPr txBox="1"/>
          <p:nvPr/>
        </p:nvSpPr>
        <p:spPr>
          <a:xfrm>
            <a:off x="734050" y="746075"/>
            <a:ext cx="10572900" cy="538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System Architecture</a:t>
            </a:r>
            <a:endParaRPr b="1" sz="17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700">
                <a:solidFill>
                  <a:schemeClr val="dk1"/>
                </a:solidFill>
                <a:latin typeface="Times New Roman"/>
                <a:ea typeface="Times New Roman"/>
                <a:cs typeface="Times New Roman"/>
                <a:sym typeface="Times New Roman"/>
              </a:rPr>
              <a:t> Architecture Overview</a:t>
            </a:r>
            <a:endParaRPr b="1" sz="17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1700">
                <a:solidFill>
                  <a:schemeClr val="dk1"/>
                </a:solidFill>
                <a:latin typeface="Times New Roman"/>
                <a:ea typeface="Times New Roman"/>
                <a:cs typeface="Times New Roman"/>
                <a:sym typeface="Times New Roman"/>
              </a:rPr>
              <a:t>The system is designed in a </a:t>
            </a:r>
            <a:r>
              <a:rPr b="1" lang="en-US" sz="1700">
                <a:solidFill>
                  <a:schemeClr val="dk1"/>
                </a:solidFill>
                <a:latin typeface="Times New Roman"/>
                <a:ea typeface="Times New Roman"/>
                <a:cs typeface="Times New Roman"/>
                <a:sym typeface="Times New Roman"/>
              </a:rPr>
              <a:t>layered modular structure</a:t>
            </a:r>
            <a:r>
              <a:rPr lang="en-US" sz="1700">
                <a:solidFill>
                  <a:schemeClr val="dk1"/>
                </a:solidFill>
                <a:latin typeface="Times New Roman"/>
                <a:ea typeface="Times New Roman"/>
                <a:cs typeface="Times New Roman"/>
                <a:sym typeface="Times New Roman"/>
              </a:rPr>
              <a:t>, integrating user interaction, backend processing, AI-based prediction, emotional context detection, and personalized response generation using Gemini API.</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700">
                <a:solidFill>
                  <a:schemeClr val="dk1"/>
                </a:solidFill>
                <a:latin typeface="Times New Roman"/>
                <a:ea typeface="Times New Roman"/>
                <a:cs typeface="Times New Roman"/>
                <a:sym typeface="Times New Roman"/>
              </a:rPr>
              <a:t> Component Layers</a:t>
            </a:r>
            <a:endParaRPr b="1" sz="1700">
              <a:solidFill>
                <a:schemeClr val="dk1"/>
              </a:solidFill>
              <a:latin typeface="Times New Roman"/>
              <a:ea typeface="Times New Roman"/>
              <a:cs typeface="Times New Roman"/>
              <a:sym typeface="Times New Roman"/>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latin typeface="Times New Roman"/>
                <a:ea typeface="Times New Roman"/>
                <a:cs typeface="Times New Roman"/>
                <a:sym typeface="Times New Roman"/>
              </a:rPr>
              <a:t>User Interaction Layer</a:t>
            </a:r>
            <a:r>
              <a:rPr lang="en-US" sz="1700">
                <a:solidFill>
                  <a:schemeClr val="dk1"/>
                </a:solidFill>
                <a:latin typeface="Times New Roman"/>
                <a:ea typeface="Times New Roman"/>
                <a:cs typeface="Times New Roman"/>
                <a:sym typeface="Times New Roman"/>
              </a:rPr>
              <a:t>: Contains </a:t>
            </a:r>
            <a:r>
              <a:rPr lang="en-US" sz="1700">
                <a:solidFill>
                  <a:srgbClr val="188038"/>
                </a:solidFill>
                <a:latin typeface="Times New Roman"/>
                <a:ea typeface="Times New Roman"/>
                <a:cs typeface="Times New Roman"/>
                <a:sym typeface="Times New Roman"/>
              </a:rPr>
              <a:t>LanguageSelector</a:t>
            </a:r>
            <a:r>
              <a:rPr lang="en-US" sz="1700">
                <a:solidFill>
                  <a:schemeClr val="dk1"/>
                </a:solidFill>
                <a:latin typeface="Times New Roman"/>
                <a:ea typeface="Times New Roman"/>
                <a:cs typeface="Times New Roman"/>
                <a:sym typeface="Times New Roman"/>
              </a:rPr>
              <a:t> and </a:t>
            </a:r>
            <a:r>
              <a:rPr lang="en-US" sz="1700">
                <a:solidFill>
                  <a:srgbClr val="188038"/>
                </a:solidFill>
                <a:latin typeface="Times New Roman"/>
                <a:ea typeface="Times New Roman"/>
                <a:cs typeface="Times New Roman"/>
                <a:sym typeface="Times New Roman"/>
              </a:rPr>
              <a:t>Auth</a:t>
            </a:r>
            <a:r>
              <a:rPr lang="en-US" sz="1700">
                <a:solidFill>
                  <a:schemeClr val="dk1"/>
                </a:solidFill>
                <a:latin typeface="Times New Roman"/>
                <a:ea typeface="Times New Roman"/>
                <a:cs typeface="Times New Roman"/>
                <a:sym typeface="Times New Roman"/>
              </a:rPr>
              <a:t> for multilingual login and language preference.</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latin typeface="Times New Roman"/>
                <a:ea typeface="Times New Roman"/>
                <a:cs typeface="Times New Roman"/>
                <a:sym typeface="Times New Roman"/>
              </a:rPr>
              <a:t>Detection</a:t>
            </a:r>
            <a:r>
              <a:rPr b="1" lang="en-US" sz="1700">
                <a:solidFill>
                  <a:schemeClr val="dk1"/>
                </a:solidFill>
                <a:latin typeface="Times New Roman"/>
                <a:ea typeface="Times New Roman"/>
                <a:cs typeface="Times New Roman"/>
                <a:sym typeface="Times New Roman"/>
              </a:rPr>
              <a:t> Layer</a:t>
            </a:r>
            <a:r>
              <a:rPr lang="en-US" sz="1700">
                <a:solidFill>
                  <a:schemeClr val="dk1"/>
                </a:solidFill>
                <a:latin typeface="Times New Roman"/>
                <a:ea typeface="Times New Roman"/>
                <a:cs typeface="Times New Roman"/>
                <a:sym typeface="Times New Roman"/>
              </a:rPr>
              <a:t>: Uses a hybrid </a:t>
            </a:r>
            <a:r>
              <a:rPr b="1" lang="en-US" sz="1700">
                <a:solidFill>
                  <a:schemeClr val="dk1"/>
                </a:solidFill>
                <a:latin typeface="Times New Roman"/>
                <a:ea typeface="Times New Roman"/>
                <a:cs typeface="Times New Roman"/>
                <a:sym typeface="Times New Roman"/>
              </a:rPr>
              <a:t>MBTI Classifier (mBERT )</a:t>
            </a:r>
            <a:r>
              <a:rPr lang="en-US" sz="1700">
                <a:solidFill>
                  <a:schemeClr val="dk1"/>
                </a:solidFill>
                <a:latin typeface="Times New Roman"/>
                <a:ea typeface="Times New Roman"/>
                <a:cs typeface="Times New Roman"/>
                <a:sym typeface="Times New Roman"/>
              </a:rPr>
              <a:t> to predict the user’s personality type.</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latin typeface="Times New Roman"/>
                <a:ea typeface="Times New Roman"/>
                <a:cs typeface="Times New Roman"/>
                <a:sym typeface="Times New Roman"/>
              </a:rPr>
              <a:t>Context Detection Layer</a:t>
            </a:r>
            <a:r>
              <a:rPr lang="en-US" sz="1700">
                <a:solidFill>
                  <a:schemeClr val="dk1"/>
                </a:solidFill>
                <a:latin typeface="Times New Roman"/>
                <a:ea typeface="Times New Roman"/>
                <a:cs typeface="Times New Roman"/>
                <a:sym typeface="Times New Roman"/>
              </a:rPr>
              <a:t>: Leverages </a:t>
            </a:r>
            <a:r>
              <a:rPr b="1" lang="en-US" sz="1700">
                <a:solidFill>
                  <a:schemeClr val="dk1"/>
                </a:solidFill>
                <a:latin typeface="Times New Roman"/>
                <a:ea typeface="Times New Roman"/>
                <a:cs typeface="Times New Roman"/>
                <a:sym typeface="Times New Roman"/>
              </a:rPr>
              <a:t>DistilRoBERTa</a:t>
            </a:r>
            <a:r>
              <a:rPr lang="en-US" sz="1700">
                <a:solidFill>
                  <a:schemeClr val="dk1"/>
                </a:solidFill>
                <a:latin typeface="Times New Roman"/>
                <a:ea typeface="Times New Roman"/>
                <a:cs typeface="Times New Roman"/>
                <a:sym typeface="Times New Roman"/>
              </a:rPr>
              <a:t> to detect emotional and academic context from the user’s messages.</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latin typeface="Times New Roman"/>
                <a:ea typeface="Times New Roman"/>
                <a:cs typeface="Times New Roman"/>
                <a:sym typeface="Times New Roman"/>
              </a:rPr>
              <a:t>Adaptation Layer</a:t>
            </a:r>
            <a:r>
              <a:rPr lang="en-US" sz="1700">
                <a:solidFill>
                  <a:schemeClr val="dk1"/>
                </a:solidFill>
                <a:latin typeface="Times New Roman"/>
                <a:ea typeface="Times New Roman"/>
                <a:cs typeface="Times New Roman"/>
                <a:sym typeface="Times New Roman"/>
              </a:rPr>
              <a:t>: The </a:t>
            </a:r>
            <a:r>
              <a:rPr b="1" lang="en-US" sz="1700">
                <a:solidFill>
                  <a:schemeClr val="dk1"/>
                </a:solidFill>
                <a:latin typeface="Times New Roman"/>
                <a:ea typeface="Times New Roman"/>
                <a:cs typeface="Times New Roman"/>
                <a:sym typeface="Times New Roman"/>
              </a:rPr>
              <a:t>Personality Adaptation Engine</a:t>
            </a:r>
            <a:r>
              <a:rPr lang="en-US" sz="1700">
                <a:solidFill>
                  <a:schemeClr val="dk1"/>
                </a:solidFill>
                <a:latin typeface="Times New Roman"/>
                <a:ea typeface="Times New Roman"/>
                <a:cs typeface="Times New Roman"/>
                <a:sym typeface="Times New Roman"/>
              </a:rPr>
              <a:t> adjusts responses based on personality and emotional context.</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latin typeface="Times New Roman"/>
                <a:ea typeface="Times New Roman"/>
                <a:cs typeface="Times New Roman"/>
                <a:sym typeface="Times New Roman"/>
              </a:rPr>
              <a:t>Storage</a:t>
            </a:r>
            <a:r>
              <a:rPr b="1" lang="en-US" sz="1700">
                <a:solidFill>
                  <a:schemeClr val="dk1"/>
                </a:solidFill>
                <a:latin typeface="Times New Roman"/>
                <a:ea typeface="Times New Roman"/>
                <a:cs typeface="Times New Roman"/>
                <a:sym typeface="Times New Roman"/>
              </a:rPr>
              <a:t> Layer</a:t>
            </a:r>
            <a:r>
              <a:rPr lang="en-US" sz="1700">
                <a:solidFill>
                  <a:schemeClr val="dk1"/>
                </a:solidFill>
                <a:latin typeface="Times New Roman"/>
                <a:ea typeface="Times New Roman"/>
                <a:cs typeface="Times New Roman"/>
                <a:sym typeface="Times New Roman"/>
              </a:rPr>
              <a:t>:Stores chat history, personality data, and adaptation logs in the database.</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latin typeface="Times New Roman"/>
                <a:ea typeface="Times New Roman"/>
                <a:cs typeface="Times New Roman"/>
                <a:sym typeface="Times New Roman"/>
              </a:rPr>
              <a:t>Response Generation Layer</a:t>
            </a:r>
            <a:r>
              <a:rPr lang="en-US" sz="1700">
                <a:solidFill>
                  <a:schemeClr val="dk1"/>
                </a:solidFill>
                <a:latin typeface="Times New Roman"/>
                <a:ea typeface="Times New Roman"/>
                <a:cs typeface="Times New Roman"/>
                <a:sym typeface="Times New Roman"/>
              </a:rPr>
              <a:t>: Gemini API generates intelligent, adaptive responses using </a:t>
            </a:r>
            <a:r>
              <a:rPr b="1" lang="en-US" sz="1700">
                <a:solidFill>
                  <a:schemeClr val="dk1"/>
                </a:solidFill>
                <a:latin typeface="Times New Roman"/>
                <a:ea typeface="Times New Roman"/>
                <a:cs typeface="Times New Roman"/>
                <a:sym typeface="Times New Roman"/>
              </a:rPr>
              <a:t>emotion-aware prompts</a:t>
            </a:r>
            <a:r>
              <a:rPr lang="en-US" sz="1700">
                <a:solidFill>
                  <a:schemeClr val="dk1"/>
                </a:solidFill>
                <a:latin typeface="Times New Roman"/>
                <a:ea typeface="Times New Roman"/>
                <a:cs typeface="Times New Roman"/>
                <a:sym typeface="Times New Roman"/>
              </a:rPr>
              <a:t> tailored to the user’s context and personality.</a:t>
            </a:r>
            <a:endParaRPr sz="1700">
              <a:solidFill>
                <a:schemeClr val="dk1"/>
              </a:solidFill>
              <a:latin typeface="Times New Roman"/>
              <a:ea typeface="Times New Roman"/>
              <a:cs typeface="Times New Roman"/>
              <a:sym typeface="Times New Roman"/>
            </a:endParaRPr>
          </a:p>
          <a:p>
            <a:pPr indent="0" lvl="0" marL="0" rtl="0" algn="l">
              <a:lnSpc>
                <a:spcPct val="85000"/>
              </a:lnSpc>
              <a:spcBef>
                <a:spcPts val="1200"/>
              </a:spcBef>
              <a:spcAft>
                <a:spcPts val="0"/>
              </a:spcAft>
              <a:buNone/>
            </a:pPr>
            <a:r>
              <a:t/>
            </a:r>
            <a:endParaRPr b="1" sz="1700">
              <a:solidFill>
                <a:schemeClr val="dk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608850e775_7_29"/>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pic>
        <p:nvPicPr>
          <p:cNvPr id="169" name="Google Shape;169;g3608850e775_7_29" title="Screenshot 2025-07-06 131327.png"/>
          <p:cNvPicPr preferRelativeResize="0"/>
          <p:nvPr/>
        </p:nvPicPr>
        <p:blipFill>
          <a:blip r:embed="rId3">
            <a:alphaModFix/>
          </a:blip>
          <a:stretch>
            <a:fillRect/>
          </a:stretch>
        </p:blipFill>
        <p:spPr>
          <a:xfrm>
            <a:off x="2734625" y="304800"/>
            <a:ext cx="3838661" cy="6553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608850e775_0_61"/>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176" name="Google Shape;176;g3608850e775_0_61"/>
          <p:cNvSpPr txBox="1"/>
          <p:nvPr/>
        </p:nvSpPr>
        <p:spPr>
          <a:xfrm>
            <a:off x="0" y="920200"/>
            <a:ext cx="5978700" cy="448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900">
                <a:solidFill>
                  <a:schemeClr val="dk1"/>
                </a:solidFill>
                <a:latin typeface="Times New Roman"/>
                <a:ea typeface="Times New Roman"/>
                <a:cs typeface="Times New Roman"/>
                <a:sym typeface="Times New Roman"/>
              </a:rPr>
              <a:t>Implementation Approach</a:t>
            </a:r>
            <a:endParaRPr b="1" sz="1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900">
                <a:solidFill>
                  <a:schemeClr val="dk1"/>
                </a:solidFill>
                <a:latin typeface="Times New Roman"/>
                <a:ea typeface="Times New Roman"/>
                <a:cs typeface="Times New Roman"/>
                <a:sym typeface="Times New Roman"/>
              </a:rPr>
              <a:t>Tools &amp; Technologies</a:t>
            </a:r>
            <a:endParaRPr b="1" sz="1900">
              <a:solidFill>
                <a:schemeClr val="dk1"/>
              </a:solidFill>
              <a:latin typeface="Times New Roman"/>
              <a:ea typeface="Times New Roman"/>
              <a:cs typeface="Times New Roman"/>
              <a:sym typeface="Times New Roman"/>
            </a:endParaRPr>
          </a:p>
          <a:p>
            <a:pPr indent="-349250" lvl="0" marL="457200" rtl="0" algn="l">
              <a:lnSpc>
                <a:spcPct val="115000"/>
              </a:lnSpc>
              <a:spcBef>
                <a:spcPts val="1200"/>
              </a:spcBef>
              <a:spcAft>
                <a:spcPts val="0"/>
              </a:spcAft>
              <a:buClr>
                <a:schemeClr val="dk1"/>
              </a:buClr>
              <a:buSzPts val="1900"/>
              <a:buChar char="●"/>
            </a:pPr>
            <a:r>
              <a:rPr b="1" lang="en-US" sz="1900">
                <a:solidFill>
                  <a:schemeClr val="dk1"/>
                </a:solidFill>
                <a:latin typeface="Times New Roman"/>
                <a:ea typeface="Times New Roman"/>
                <a:cs typeface="Times New Roman"/>
                <a:sym typeface="Times New Roman"/>
              </a:rPr>
              <a:t>Frontend</a:t>
            </a:r>
            <a:r>
              <a:rPr lang="en-US" sz="1900">
                <a:solidFill>
                  <a:schemeClr val="dk1"/>
                </a:solidFill>
                <a:latin typeface="Times New Roman"/>
                <a:ea typeface="Times New Roman"/>
                <a:cs typeface="Times New Roman"/>
                <a:sym typeface="Times New Roman"/>
              </a:rPr>
              <a:t>: React.js, i18next (for multilingual UI), HTML/CSS, JSX</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latin typeface="Times New Roman"/>
                <a:ea typeface="Times New Roman"/>
                <a:cs typeface="Times New Roman"/>
                <a:sym typeface="Times New Roman"/>
              </a:rPr>
              <a:t>Backend</a:t>
            </a:r>
            <a:r>
              <a:rPr lang="en-US" sz="1900">
                <a:solidFill>
                  <a:schemeClr val="dk1"/>
                </a:solidFill>
                <a:latin typeface="Times New Roman"/>
                <a:ea typeface="Times New Roman"/>
                <a:cs typeface="Times New Roman"/>
                <a:sym typeface="Times New Roman"/>
              </a:rPr>
              <a:t>: Flask (Python), RESTful APIs</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latin typeface="Times New Roman"/>
                <a:ea typeface="Times New Roman"/>
                <a:cs typeface="Times New Roman"/>
                <a:sym typeface="Times New Roman"/>
              </a:rPr>
              <a:t>ML Models</a:t>
            </a:r>
            <a:r>
              <a:rPr lang="en-US" sz="1900">
                <a:solidFill>
                  <a:schemeClr val="dk1"/>
                </a:solidFill>
                <a:latin typeface="Times New Roman"/>
                <a:ea typeface="Times New Roman"/>
                <a:cs typeface="Times New Roman"/>
                <a:sym typeface="Times New Roman"/>
              </a:rPr>
              <a:t>:</a:t>
            </a:r>
            <a:endParaRPr sz="1900">
              <a:solidFill>
                <a:schemeClr val="dk1"/>
              </a:solidFill>
              <a:latin typeface="Times New Roman"/>
              <a:ea typeface="Times New Roman"/>
              <a:cs typeface="Times New Roman"/>
              <a:sym typeface="Times New Roman"/>
            </a:endParaRPr>
          </a:p>
          <a:p>
            <a:pPr indent="-349250" lvl="1" marL="914400" rtl="0" algn="l">
              <a:lnSpc>
                <a:spcPct val="115000"/>
              </a:lnSpc>
              <a:spcBef>
                <a:spcPts val="0"/>
              </a:spcBef>
              <a:spcAft>
                <a:spcPts val="0"/>
              </a:spcAft>
              <a:buClr>
                <a:schemeClr val="dk1"/>
              </a:buClr>
              <a:buSzPts val="1900"/>
              <a:buChar char="○"/>
            </a:pPr>
            <a:r>
              <a:rPr b="1" lang="en-US" sz="1900">
                <a:solidFill>
                  <a:schemeClr val="dk1"/>
                </a:solidFill>
                <a:latin typeface="Times New Roman"/>
                <a:ea typeface="Times New Roman"/>
                <a:cs typeface="Times New Roman"/>
                <a:sym typeface="Times New Roman"/>
              </a:rPr>
              <a:t>MBTI Prediction</a:t>
            </a:r>
            <a:r>
              <a:rPr lang="en-US" sz="1900">
                <a:solidFill>
                  <a:schemeClr val="dk1"/>
                </a:solidFill>
                <a:latin typeface="Times New Roman"/>
                <a:ea typeface="Times New Roman"/>
                <a:cs typeface="Times New Roman"/>
                <a:sym typeface="Times New Roman"/>
              </a:rPr>
              <a:t>: mBERT</a:t>
            </a:r>
            <a:endParaRPr sz="1900">
              <a:solidFill>
                <a:schemeClr val="dk1"/>
              </a:solidFill>
              <a:latin typeface="Times New Roman"/>
              <a:ea typeface="Times New Roman"/>
              <a:cs typeface="Times New Roman"/>
              <a:sym typeface="Times New Roman"/>
            </a:endParaRPr>
          </a:p>
          <a:p>
            <a:pPr indent="-349250" lvl="1" marL="914400" rtl="0" algn="l">
              <a:lnSpc>
                <a:spcPct val="115000"/>
              </a:lnSpc>
              <a:spcBef>
                <a:spcPts val="0"/>
              </a:spcBef>
              <a:spcAft>
                <a:spcPts val="0"/>
              </a:spcAft>
              <a:buClr>
                <a:schemeClr val="dk1"/>
              </a:buClr>
              <a:buSzPts val="1900"/>
              <a:buChar char="○"/>
            </a:pPr>
            <a:r>
              <a:rPr b="1" lang="en-US" sz="1900">
                <a:solidFill>
                  <a:schemeClr val="dk1"/>
                </a:solidFill>
                <a:latin typeface="Times New Roman"/>
                <a:ea typeface="Times New Roman"/>
                <a:cs typeface="Times New Roman"/>
                <a:sym typeface="Times New Roman"/>
              </a:rPr>
              <a:t>Emotion Detection</a:t>
            </a:r>
            <a:r>
              <a:rPr lang="en-US" sz="1900">
                <a:solidFill>
                  <a:schemeClr val="dk1"/>
                </a:solidFill>
                <a:latin typeface="Times New Roman"/>
                <a:ea typeface="Times New Roman"/>
                <a:cs typeface="Times New Roman"/>
                <a:sym typeface="Times New Roman"/>
              </a:rPr>
              <a:t>: DistilRoBERT</a:t>
            </a:r>
            <a:r>
              <a:rPr lang="en-US" sz="1900">
                <a:solidFill>
                  <a:schemeClr val="dk1"/>
                </a:solidFill>
                <a:latin typeface="Times New Roman"/>
                <a:ea typeface="Times New Roman"/>
                <a:cs typeface="Times New Roman"/>
                <a:sym typeface="Times New Roman"/>
              </a:rPr>
              <a:t>a </a:t>
            </a:r>
            <a:endParaRPr sz="1900">
              <a:solidFill>
                <a:schemeClr val="dk1"/>
              </a:solidFill>
              <a:latin typeface="Times New Roman"/>
              <a:ea typeface="Times New Roman"/>
              <a:cs typeface="Times New Roman"/>
              <a:sym typeface="Times New Roman"/>
            </a:endParaRPr>
          </a:p>
          <a:p>
            <a:pPr indent="-349250" lvl="1" marL="914400" rtl="0" algn="l">
              <a:lnSpc>
                <a:spcPct val="115000"/>
              </a:lnSpc>
              <a:spcBef>
                <a:spcPts val="0"/>
              </a:spcBef>
              <a:spcAft>
                <a:spcPts val="0"/>
              </a:spcAft>
              <a:buClr>
                <a:schemeClr val="dk1"/>
              </a:buClr>
              <a:buSzPts val="1900"/>
              <a:buChar char="○"/>
            </a:pPr>
            <a:r>
              <a:rPr b="1" lang="en-US" sz="1900">
                <a:solidFill>
                  <a:schemeClr val="dk1"/>
                </a:solidFill>
                <a:latin typeface="Times New Roman"/>
                <a:ea typeface="Times New Roman"/>
                <a:cs typeface="Times New Roman"/>
                <a:sym typeface="Times New Roman"/>
              </a:rPr>
              <a:t>Adaptation</a:t>
            </a:r>
            <a:r>
              <a:rPr lang="en-US" sz="1900">
                <a:solidFill>
                  <a:schemeClr val="dk1"/>
                </a:solidFill>
                <a:latin typeface="Times New Roman"/>
                <a:ea typeface="Times New Roman"/>
                <a:cs typeface="Times New Roman"/>
                <a:sym typeface="Times New Roman"/>
              </a:rPr>
              <a:t>: Custom Python engine</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latin typeface="Times New Roman"/>
                <a:ea typeface="Times New Roman"/>
                <a:cs typeface="Times New Roman"/>
                <a:sym typeface="Times New Roman"/>
              </a:rPr>
              <a:t>LLM Integration</a:t>
            </a:r>
            <a:r>
              <a:rPr lang="en-US" sz="1900">
                <a:solidFill>
                  <a:schemeClr val="dk1"/>
                </a:solidFill>
                <a:latin typeface="Times New Roman"/>
                <a:ea typeface="Times New Roman"/>
                <a:cs typeface="Times New Roman"/>
                <a:sym typeface="Times New Roman"/>
              </a:rPr>
              <a:t>: Gemini API (Google Generative AI)</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latin typeface="Times New Roman"/>
                <a:ea typeface="Times New Roman"/>
                <a:cs typeface="Times New Roman"/>
                <a:sym typeface="Times New Roman"/>
              </a:rPr>
              <a:t>Database</a:t>
            </a:r>
            <a:r>
              <a:rPr lang="en-US" sz="1900">
                <a:solidFill>
                  <a:schemeClr val="dk1"/>
                </a:solidFill>
                <a:latin typeface="Times New Roman"/>
                <a:ea typeface="Times New Roman"/>
                <a:cs typeface="Times New Roman"/>
                <a:sym typeface="Times New Roman"/>
              </a:rPr>
              <a:t>: MongoDB</a:t>
            </a:r>
            <a:endParaRPr sz="1900">
              <a:solidFill>
                <a:schemeClr val="dk1"/>
              </a:solidFill>
              <a:latin typeface="Times New Roman"/>
              <a:ea typeface="Times New Roman"/>
              <a:cs typeface="Times New Roman"/>
              <a:sym typeface="Times New Roman"/>
            </a:endParaRPr>
          </a:p>
        </p:txBody>
      </p:sp>
      <p:sp>
        <p:nvSpPr>
          <p:cNvPr id="177" name="Google Shape;177;g3608850e775_0_61"/>
          <p:cNvSpPr txBox="1"/>
          <p:nvPr/>
        </p:nvSpPr>
        <p:spPr>
          <a:xfrm>
            <a:off x="6253125" y="829000"/>
            <a:ext cx="5376000" cy="533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900">
                <a:solidFill>
                  <a:schemeClr val="dk1"/>
                </a:solidFill>
                <a:latin typeface="Times New Roman"/>
                <a:ea typeface="Times New Roman"/>
                <a:cs typeface="Times New Roman"/>
                <a:sym typeface="Times New Roman"/>
              </a:rPr>
              <a:t> Implementation Workflow</a:t>
            </a:r>
            <a:endParaRPr b="1" sz="1900">
              <a:solidFill>
                <a:schemeClr val="dk1"/>
              </a:solidFill>
              <a:latin typeface="Times New Roman"/>
              <a:ea typeface="Times New Roman"/>
              <a:cs typeface="Times New Roman"/>
              <a:sym typeface="Times New Roman"/>
            </a:endParaRPr>
          </a:p>
          <a:p>
            <a:pPr indent="-349250" lvl="0" marL="457200" rtl="0" algn="l">
              <a:lnSpc>
                <a:spcPct val="115000"/>
              </a:lnSpc>
              <a:spcBef>
                <a:spcPts val="1200"/>
              </a:spcBef>
              <a:spcAft>
                <a:spcPts val="0"/>
              </a:spcAft>
              <a:buClr>
                <a:schemeClr val="dk1"/>
              </a:buClr>
              <a:buSzPts val="1900"/>
              <a:buAutoNum type="arabicPeriod"/>
            </a:pPr>
            <a:r>
              <a:rPr b="1" lang="en-US" sz="1900">
                <a:solidFill>
                  <a:schemeClr val="dk1"/>
                </a:solidFill>
                <a:latin typeface="Times New Roman"/>
                <a:ea typeface="Times New Roman"/>
                <a:cs typeface="Times New Roman"/>
                <a:sym typeface="Times New Roman"/>
              </a:rPr>
              <a:t>User selects language</a:t>
            </a:r>
            <a:r>
              <a:rPr lang="en-US" sz="1900">
                <a:solidFill>
                  <a:schemeClr val="dk1"/>
                </a:solidFill>
                <a:latin typeface="Times New Roman"/>
                <a:ea typeface="Times New Roman"/>
                <a:cs typeface="Times New Roman"/>
                <a:sym typeface="Times New Roman"/>
              </a:rPr>
              <a:t> → stored in localStorage.</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AutoNum type="arabicPeriod"/>
            </a:pPr>
            <a:r>
              <a:rPr b="1" lang="en-US" sz="1900">
                <a:solidFill>
                  <a:schemeClr val="dk1"/>
                </a:solidFill>
                <a:latin typeface="Times New Roman"/>
                <a:ea typeface="Times New Roman"/>
                <a:cs typeface="Times New Roman"/>
                <a:sym typeface="Times New Roman"/>
              </a:rPr>
              <a:t>User signs up/logs in</a:t>
            </a:r>
            <a:r>
              <a:rPr lang="en-US" sz="1900">
                <a:solidFill>
                  <a:schemeClr val="dk1"/>
                </a:solidFill>
                <a:latin typeface="Times New Roman"/>
                <a:ea typeface="Times New Roman"/>
                <a:cs typeface="Times New Roman"/>
                <a:sym typeface="Times New Roman"/>
              </a:rPr>
              <a:t> → data saved in MongoDB.</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AutoNum type="arabicPeriod"/>
            </a:pPr>
            <a:r>
              <a:rPr b="1" lang="en-US" sz="1900">
                <a:solidFill>
                  <a:schemeClr val="dk1"/>
                </a:solidFill>
                <a:latin typeface="Times New Roman"/>
                <a:ea typeface="Times New Roman"/>
                <a:cs typeface="Times New Roman"/>
                <a:sym typeface="Times New Roman"/>
              </a:rPr>
              <a:t>Chat starts or MBTI quiz is completed</a:t>
            </a:r>
            <a:r>
              <a:rPr lang="en-US" sz="1900">
                <a:solidFill>
                  <a:schemeClr val="dk1"/>
                </a:solidFill>
                <a:latin typeface="Times New Roman"/>
                <a:ea typeface="Times New Roman"/>
                <a:cs typeface="Times New Roman"/>
                <a:sym typeface="Times New Roman"/>
              </a:rPr>
              <a:t>.</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Font typeface="Times New Roman"/>
              <a:buAutoNum type="arabicPeriod"/>
            </a:pPr>
            <a:r>
              <a:rPr lang="en-US" sz="1900">
                <a:solidFill>
                  <a:schemeClr val="dk1"/>
                </a:solidFill>
                <a:latin typeface="Times New Roman"/>
                <a:ea typeface="Times New Roman"/>
                <a:cs typeface="Times New Roman"/>
                <a:sym typeface="Times New Roman"/>
              </a:rPr>
              <a:t>MBTI is predicted using mBERT  → saved to profile.</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Font typeface="Times New Roman"/>
              <a:buAutoNum type="arabicPeriod"/>
            </a:pPr>
            <a:r>
              <a:rPr lang="en-US" sz="1900">
                <a:solidFill>
                  <a:schemeClr val="dk1"/>
                </a:solidFill>
                <a:latin typeface="Times New Roman"/>
                <a:ea typeface="Times New Roman"/>
                <a:cs typeface="Times New Roman"/>
                <a:sym typeface="Times New Roman"/>
              </a:rPr>
              <a:t>User sends message → emotion &amp; context detected via DistilRoBERTa.</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Font typeface="Times New Roman"/>
              <a:buAutoNum type="arabicPeriod"/>
            </a:pPr>
            <a:r>
              <a:rPr lang="en-US" sz="1900">
                <a:solidFill>
                  <a:schemeClr val="dk1"/>
                </a:solidFill>
                <a:latin typeface="Times New Roman"/>
                <a:ea typeface="Times New Roman"/>
                <a:cs typeface="Times New Roman"/>
                <a:sym typeface="Times New Roman"/>
              </a:rPr>
              <a:t>Adaptation engine selects tone/style based on MBTI + emotion.</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AutoNum type="arabicPeriod"/>
            </a:pPr>
            <a:r>
              <a:rPr lang="en-US" sz="1900">
                <a:solidFill>
                  <a:schemeClr val="dk1"/>
                </a:solidFill>
                <a:latin typeface="Times New Roman"/>
                <a:ea typeface="Times New Roman"/>
                <a:cs typeface="Times New Roman"/>
                <a:sym typeface="Times New Roman"/>
              </a:rPr>
              <a:t>Prompt is constructed and passed to </a:t>
            </a:r>
            <a:r>
              <a:rPr b="1" lang="en-US" sz="1900">
                <a:solidFill>
                  <a:schemeClr val="dk1"/>
                </a:solidFill>
                <a:latin typeface="Times New Roman"/>
                <a:ea typeface="Times New Roman"/>
                <a:cs typeface="Times New Roman"/>
                <a:sym typeface="Times New Roman"/>
              </a:rPr>
              <a:t>Gemini API</a:t>
            </a:r>
            <a:r>
              <a:rPr lang="en-US" sz="1900">
                <a:solidFill>
                  <a:schemeClr val="dk1"/>
                </a:solidFill>
                <a:latin typeface="Times New Roman"/>
                <a:ea typeface="Times New Roman"/>
                <a:cs typeface="Times New Roman"/>
                <a:sym typeface="Times New Roman"/>
              </a:rPr>
              <a:t>.</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AutoNum type="arabicPeriod"/>
            </a:pPr>
            <a:r>
              <a:rPr lang="en-US" sz="1900">
                <a:solidFill>
                  <a:schemeClr val="dk1"/>
                </a:solidFill>
                <a:latin typeface="Times New Roman"/>
                <a:ea typeface="Times New Roman"/>
                <a:cs typeface="Times New Roman"/>
                <a:sym typeface="Times New Roman"/>
              </a:rPr>
              <a:t>Final adapted message is shown with </a:t>
            </a:r>
            <a:r>
              <a:rPr b="1" lang="en-US" sz="1900">
                <a:solidFill>
                  <a:schemeClr val="dk1"/>
                </a:solidFill>
                <a:latin typeface="Times New Roman"/>
                <a:ea typeface="Times New Roman"/>
                <a:cs typeface="Times New Roman"/>
                <a:sym typeface="Times New Roman"/>
              </a:rPr>
              <a:t>MBTI + context badge</a:t>
            </a:r>
            <a:r>
              <a:rPr lang="en-US" sz="1900">
                <a:solidFill>
                  <a:schemeClr val="dk1"/>
                </a:solidFill>
                <a:latin typeface="Times New Roman"/>
                <a:ea typeface="Times New Roman"/>
                <a:cs typeface="Times New Roman"/>
                <a:sym typeface="Times New Roman"/>
              </a:rPr>
              <a:t>.</a:t>
            </a:r>
            <a:endParaRPr sz="19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608850e775_0_7"/>
          <p:cNvSpPr txBox="1"/>
          <p:nvPr>
            <p:ph type="ctrTitle"/>
          </p:nvPr>
        </p:nvSpPr>
        <p:spPr>
          <a:xfrm>
            <a:off x="1097280" y="758952"/>
            <a:ext cx="10058400" cy="35661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84" name="Google Shape;184;g3608850e775_0_7"/>
          <p:cNvSpPr txBox="1"/>
          <p:nvPr>
            <p:ph idx="1" type="subTitle"/>
          </p:nvPr>
        </p:nvSpPr>
        <p:spPr>
          <a:xfrm>
            <a:off x="1100051" y="4455620"/>
            <a:ext cx="10058400" cy="1143000"/>
          </a:xfrm>
          <a:prstGeom prst="rect">
            <a:avLst/>
          </a:prstGeom>
        </p:spPr>
        <p:txBody>
          <a:bodyPr anchorCtr="0" anchor="t" bIns="45700" lIns="91425" spcFirstLastPara="1" rIns="91425" wrap="square" tIns="45700">
            <a:normAutofit/>
          </a:bodyPr>
          <a:lstStyle/>
          <a:p>
            <a:pPr indent="0" lvl="0" marL="0" rtl="0" algn="l">
              <a:spcBef>
                <a:spcPts val="1200"/>
              </a:spcBef>
              <a:spcAft>
                <a:spcPts val="0"/>
              </a:spcAft>
              <a:buNone/>
            </a:pPr>
            <a:r>
              <a:t/>
            </a:r>
            <a:endParaRPr/>
          </a:p>
        </p:txBody>
      </p:sp>
      <p:pic>
        <p:nvPicPr>
          <p:cNvPr id="185" name="Google Shape;185;g3608850e775_0_7" title="seqeunce digram.png"/>
          <p:cNvPicPr preferRelativeResize="0"/>
          <p:nvPr/>
        </p:nvPicPr>
        <p:blipFill rotWithShape="1">
          <a:blip r:embed="rId3">
            <a:alphaModFix/>
          </a:blip>
          <a:srcRect b="45637" l="0" r="0" t="0"/>
          <a:stretch/>
        </p:blipFill>
        <p:spPr>
          <a:xfrm>
            <a:off x="408025" y="78250"/>
            <a:ext cx="11469125" cy="62287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608850e775_0_48"/>
          <p:cNvSpPr txBox="1"/>
          <p:nvPr>
            <p:ph type="ctrTitle"/>
          </p:nvPr>
        </p:nvSpPr>
        <p:spPr>
          <a:xfrm>
            <a:off x="1097280" y="758952"/>
            <a:ext cx="10058400" cy="35661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92" name="Google Shape;192;g3608850e775_0_48"/>
          <p:cNvSpPr txBox="1"/>
          <p:nvPr>
            <p:ph idx="1" type="subTitle"/>
          </p:nvPr>
        </p:nvSpPr>
        <p:spPr>
          <a:xfrm>
            <a:off x="1100051" y="4455620"/>
            <a:ext cx="10058400" cy="1143000"/>
          </a:xfrm>
          <a:prstGeom prst="rect">
            <a:avLst/>
          </a:prstGeom>
        </p:spPr>
        <p:txBody>
          <a:bodyPr anchorCtr="0" anchor="t" bIns="45700" lIns="91425" spcFirstLastPara="1" rIns="91425" wrap="square" tIns="45700">
            <a:normAutofit/>
          </a:bodyPr>
          <a:lstStyle/>
          <a:p>
            <a:pPr indent="0" lvl="0" marL="0" rtl="0" algn="l">
              <a:spcBef>
                <a:spcPts val="1200"/>
              </a:spcBef>
              <a:spcAft>
                <a:spcPts val="0"/>
              </a:spcAft>
              <a:buNone/>
            </a:pPr>
            <a:r>
              <a:t/>
            </a:r>
            <a:endParaRPr/>
          </a:p>
        </p:txBody>
      </p:sp>
      <p:pic>
        <p:nvPicPr>
          <p:cNvPr id="193" name="Google Shape;193;g3608850e775_0_48" title="seqeunce digram.png"/>
          <p:cNvPicPr preferRelativeResize="0"/>
          <p:nvPr/>
        </p:nvPicPr>
        <p:blipFill rotWithShape="1">
          <a:blip r:embed="rId3">
            <a:alphaModFix/>
          </a:blip>
          <a:srcRect b="0" l="0" r="0" t="53122"/>
          <a:stretch/>
        </p:blipFill>
        <p:spPr>
          <a:xfrm>
            <a:off x="0" y="1240800"/>
            <a:ext cx="12192000" cy="48562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608850e775_7_3"/>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200" name="Google Shape;200;g3608850e775_7_3"/>
          <p:cNvSpPr txBox="1"/>
          <p:nvPr/>
        </p:nvSpPr>
        <p:spPr>
          <a:xfrm>
            <a:off x="213179" y="950175"/>
            <a:ext cx="4051500" cy="523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500">
                <a:solidFill>
                  <a:schemeClr val="dk1"/>
                </a:solidFill>
                <a:latin typeface="Times New Roman"/>
                <a:ea typeface="Times New Roman"/>
                <a:cs typeface="Times New Roman"/>
                <a:sym typeface="Times New Roman"/>
              </a:rPr>
              <a:t>Module 1: User Authentication &amp; Language Selection</a:t>
            </a:r>
            <a:endParaRPr b="1"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Char char="●"/>
            </a:pPr>
            <a:r>
              <a:rPr b="1" lang="en-US" sz="1500">
                <a:solidFill>
                  <a:schemeClr val="dk1"/>
                </a:solidFill>
                <a:latin typeface="Times New Roman"/>
                <a:ea typeface="Times New Roman"/>
                <a:cs typeface="Times New Roman"/>
                <a:sym typeface="Times New Roman"/>
              </a:rPr>
              <a:t>Description</a:t>
            </a:r>
            <a:r>
              <a:rPr lang="en-US" sz="1500">
                <a:solidFill>
                  <a:schemeClr val="dk1"/>
                </a:solidFill>
                <a:latin typeface="Times New Roman"/>
                <a:ea typeface="Times New Roman"/>
                <a:cs typeface="Times New Roman"/>
                <a:sym typeface="Times New Roman"/>
              </a:rPr>
              <a:t>:</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Allows secure login/signup and lets users select a preferred language (English/Kannada).</a:t>
            </a:r>
            <a:br>
              <a:rPr lang="en-US"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latin typeface="Times New Roman"/>
                <a:ea typeface="Times New Roman"/>
                <a:cs typeface="Times New Roman"/>
                <a:sym typeface="Times New Roman"/>
              </a:rPr>
              <a:t>Code/Logic Overview</a:t>
            </a:r>
            <a:r>
              <a:rPr lang="en-US" sz="1500">
                <a:solidFill>
                  <a:schemeClr val="dk1"/>
                </a:solidFill>
                <a:latin typeface="Times New Roman"/>
                <a:ea typeface="Times New Roman"/>
                <a:cs typeface="Times New Roman"/>
                <a:sym typeface="Times New Roman"/>
              </a:rPr>
              <a:t>:</a:t>
            </a:r>
            <a:br>
              <a:rPr lang="en-US"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JWT-based authentication for secure sessions.</a:t>
            </a:r>
            <a:br>
              <a:rPr lang="en-US"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Stores user language preference in MongoDB.</a:t>
            </a:r>
            <a:br>
              <a:rPr lang="en-US"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Dynamic UI rendering based on selected language.</a:t>
            </a:r>
            <a:endParaRPr sz="15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t/>
            </a:r>
            <a:endParaRPr sz="1500">
              <a:solidFill>
                <a:schemeClr val="dk1"/>
              </a:solidFill>
              <a:latin typeface="Times New Roman"/>
              <a:ea typeface="Times New Roman"/>
              <a:cs typeface="Times New Roman"/>
              <a:sym typeface="Times New Roman"/>
            </a:endParaRPr>
          </a:p>
        </p:txBody>
      </p:sp>
      <p:pic>
        <p:nvPicPr>
          <p:cNvPr id="201" name="Google Shape;201;g3608850e775_7_3" title="Screenshot 2025-06-10 120244.png"/>
          <p:cNvPicPr preferRelativeResize="0"/>
          <p:nvPr/>
        </p:nvPicPr>
        <p:blipFill>
          <a:blip r:embed="rId3">
            <a:alphaModFix/>
          </a:blip>
          <a:stretch>
            <a:fillRect/>
          </a:stretch>
        </p:blipFill>
        <p:spPr>
          <a:xfrm>
            <a:off x="7175150" y="346550"/>
            <a:ext cx="4398674" cy="2800200"/>
          </a:xfrm>
          <a:prstGeom prst="rect">
            <a:avLst/>
          </a:prstGeom>
          <a:noFill/>
          <a:ln>
            <a:noFill/>
          </a:ln>
        </p:spPr>
      </p:pic>
      <p:sp>
        <p:nvSpPr>
          <p:cNvPr id="202" name="Google Shape;202;g3608850e775_7_3"/>
          <p:cNvSpPr txBox="1"/>
          <p:nvPr/>
        </p:nvSpPr>
        <p:spPr>
          <a:xfrm>
            <a:off x="4175150" y="1152900"/>
            <a:ext cx="3000000" cy="455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500">
                <a:solidFill>
                  <a:schemeClr val="dk1"/>
                </a:solidFill>
                <a:latin typeface="Times New Roman"/>
                <a:ea typeface="Times New Roman"/>
                <a:cs typeface="Times New Roman"/>
                <a:sym typeface="Times New Roman"/>
              </a:rPr>
              <a:t>Module 2: MBTI Personality Assessment</a:t>
            </a:r>
            <a:endParaRPr b="1"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Char char="●"/>
            </a:pPr>
            <a:r>
              <a:rPr b="1" lang="en-US" sz="1500">
                <a:solidFill>
                  <a:schemeClr val="dk1"/>
                </a:solidFill>
                <a:latin typeface="Times New Roman"/>
                <a:ea typeface="Times New Roman"/>
                <a:cs typeface="Times New Roman"/>
                <a:sym typeface="Times New Roman"/>
              </a:rPr>
              <a:t>Description</a:t>
            </a:r>
            <a:r>
              <a:rPr lang="en-US" sz="1500">
                <a:solidFill>
                  <a:schemeClr val="dk1"/>
                </a:solidFill>
                <a:latin typeface="Times New Roman"/>
                <a:ea typeface="Times New Roman"/>
                <a:cs typeface="Times New Roman"/>
                <a:sym typeface="Times New Roman"/>
              </a:rPr>
              <a:t>:</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Predicts user's MBTI type using questionnaire and mBERT model.</a:t>
            </a:r>
            <a:br>
              <a:rPr lang="en-US"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latin typeface="Times New Roman"/>
                <a:ea typeface="Times New Roman"/>
                <a:cs typeface="Times New Roman"/>
                <a:sym typeface="Times New Roman"/>
              </a:rPr>
              <a:t>Code/Logic Overview</a:t>
            </a:r>
            <a:r>
              <a:rPr lang="en-US" sz="1500">
                <a:solidFill>
                  <a:schemeClr val="dk1"/>
                </a:solidFill>
                <a:latin typeface="Times New Roman"/>
                <a:ea typeface="Times New Roman"/>
                <a:cs typeface="Times New Roman"/>
                <a:sym typeface="Times New Roman"/>
              </a:rPr>
              <a:t>:</a:t>
            </a:r>
            <a:br>
              <a:rPr lang="en-US"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Text summary of MCQ responses passed through mBERT model.</a:t>
            </a:r>
            <a:br>
              <a:rPr lang="en-US"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Output MBTI type with confidence score.</a:t>
            </a:r>
            <a:br>
              <a:rPr lang="en-US"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p:txBody>
      </p:sp>
      <p:pic>
        <p:nvPicPr>
          <p:cNvPr id="203" name="Google Shape;203;g3608850e775_7_3" title="quiz.png"/>
          <p:cNvPicPr preferRelativeResize="0"/>
          <p:nvPr/>
        </p:nvPicPr>
        <p:blipFill>
          <a:blip r:embed="rId4">
            <a:alphaModFix/>
          </a:blip>
          <a:stretch>
            <a:fillRect/>
          </a:stretch>
        </p:blipFill>
        <p:spPr>
          <a:xfrm>
            <a:off x="7175150" y="3264100"/>
            <a:ext cx="4841701" cy="27163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608850e775_7_16"/>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210" name="Google Shape;210;g3608850e775_7_16"/>
          <p:cNvSpPr txBox="1"/>
          <p:nvPr/>
        </p:nvSpPr>
        <p:spPr>
          <a:xfrm>
            <a:off x="219400" y="888675"/>
            <a:ext cx="3000000" cy="481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500">
                <a:solidFill>
                  <a:schemeClr val="dk1"/>
                </a:solidFill>
                <a:latin typeface="Times New Roman"/>
                <a:ea typeface="Times New Roman"/>
                <a:cs typeface="Times New Roman"/>
                <a:sym typeface="Times New Roman"/>
              </a:rPr>
              <a:t>Module 3: Emotion Detection &amp; Context Analysis</a:t>
            </a:r>
            <a:endParaRPr b="1"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Char char="●"/>
            </a:pPr>
            <a:r>
              <a:rPr b="1" lang="en-US" sz="1500">
                <a:solidFill>
                  <a:schemeClr val="dk1"/>
                </a:solidFill>
                <a:latin typeface="Times New Roman"/>
                <a:ea typeface="Times New Roman"/>
                <a:cs typeface="Times New Roman"/>
                <a:sym typeface="Times New Roman"/>
              </a:rPr>
              <a:t>Description</a:t>
            </a:r>
            <a:r>
              <a:rPr lang="en-US" sz="1500">
                <a:solidFill>
                  <a:schemeClr val="dk1"/>
                </a:solidFill>
                <a:latin typeface="Times New Roman"/>
                <a:ea typeface="Times New Roman"/>
                <a:cs typeface="Times New Roman"/>
                <a:sym typeface="Times New Roman"/>
              </a:rPr>
              <a:t>:</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Classifies user emotions in real-time using DistilRoBERTa.</a:t>
            </a:r>
            <a:br>
              <a:rPr lang="en-US"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latin typeface="Times New Roman"/>
                <a:ea typeface="Times New Roman"/>
                <a:cs typeface="Times New Roman"/>
                <a:sym typeface="Times New Roman"/>
              </a:rPr>
              <a:t>Code/Logic Overview</a:t>
            </a:r>
            <a:r>
              <a:rPr lang="en-US" sz="1500">
                <a:solidFill>
                  <a:schemeClr val="dk1"/>
                </a:solidFill>
                <a:latin typeface="Times New Roman"/>
                <a:ea typeface="Times New Roman"/>
                <a:cs typeface="Times New Roman"/>
                <a:sym typeface="Times New Roman"/>
              </a:rPr>
              <a:t>:</a:t>
            </a:r>
            <a:br>
              <a:rPr lang="en-US"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User input tokenized → passed to emotion classifier → detects emotion &amp; academic context.</a:t>
            </a:r>
            <a:br>
              <a:rPr lang="en-US"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Used to adapt chatbot tone/style.</a:t>
            </a:r>
            <a:endParaRPr sz="1500">
              <a:solidFill>
                <a:schemeClr val="dk1"/>
              </a:solidFill>
              <a:latin typeface="Times New Roman"/>
              <a:ea typeface="Times New Roman"/>
              <a:cs typeface="Times New Roman"/>
              <a:sym typeface="Times New Roman"/>
            </a:endParaRPr>
          </a:p>
        </p:txBody>
      </p:sp>
      <p:sp>
        <p:nvSpPr>
          <p:cNvPr id="211" name="Google Shape;211;g3608850e775_7_16"/>
          <p:cNvSpPr txBox="1"/>
          <p:nvPr/>
        </p:nvSpPr>
        <p:spPr>
          <a:xfrm>
            <a:off x="3219400" y="972525"/>
            <a:ext cx="3000000" cy="511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latin typeface="Times New Roman"/>
                <a:ea typeface="Times New Roman"/>
                <a:cs typeface="Times New Roman"/>
                <a:sym typeface="Times New Roman"/>
              </a:rPr>
              <a:t>Module 4: Personalized Response Generation</a:t>
            </a:r>
            <a:endParaRPr b="1" sz="1600">
              <a:solidFill>
                <a:schemeClr val="dk1"/>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Clr>
                <a:schemeClr val="dk1"/>
              </a:buClr>
              <a:buSzPts val="1600"/>
              <a:buChar char="●"/>
            </a:pPr>
            <a:r>
              <a:rPr b="1" lang="en-US" sz="1600">
                <a:solidFill>
                  <a:schemeClr val="dk1"/>
                </a:solidFill>
                <a:latin typeface="Times New Roman"/>
                <a:ea typeface="Times New Roman"/>
                <a:cs typeface="Times New Roman"/>
                <a:sym typeface="Times New Roman"/>
              </a:rPr>
              <a:t>Description</a:t>
            </a:r>
            <a:r>
              <a:rPr lang="en-US" sz="1600">
                <a:solidFill>
                  <a:schemeClr val="dk1"/>
                </a:solidFill>
                <a:latin typeface="Times New Roman"/>
                <a:ea typeface="Times New Roman"/>
                <a:cs typeface="Times New Roman"/>
                <a:sym typeface="Times New Roman"/>
              </a:rPr>
              <a:t>:</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 Generates adaptive replies using MBTI, emotion, and RL feedback.</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latin typeface="Times New Roman"/>
                <a:ea typeface="Times New Roman"/>
                <a:cs typeface="Times New Roman"/>
                <a:sym typeface="Times New Roman"/>
              </a:rPr>
              <a:t>Code/Logic Overview</a:t>
            </a:r>
            <a:r>
              <a:rPr lang="en-US" sz="1600">
                <a:solidFill>
                  <a:schemeClr val="dk1"/>
                </a:solidFill>
                <a:latin typeface="Times New Roman"/>
                <a:ea typeface="Times New Roman"/>
                <a:cs typeface="Times New Roman"/>
                <a:sym typeface="Times New Roman"/>
              </a:rPr>
              <a:t>:</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30200" lvl="1" marL="9144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adjusts response strategy.</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30200" lvl="1" marL="9144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Combines MBTI + sentiment + history to generate output via Gemini API.</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p:txBody>
      </p:sp>
      <p:pic>
        <p:nvPicPr>
          <p:cNvPr id="212" name="Google Shape;212;g3608850e775_7_16" title="context adapation.png"/>
          <p:cNvPicPr preferRelativeResize="0"/>
          <p:nvPr/>
        </p:nvPicPr>
        <p:blipFill>
          <a:blip r:embed="rId3">
            <a:alphaModFix/>
          </a:blip>
          <a:stretch>
            <a:fillRect/>
          </a:stretch>
        </p:blipFill>
        <p:spPr>
          <a:xfrm>
            <a:off x="6371800" y="152400"/>
            <a:ext cx="5667799" cy="3494899"/>
          </a:xfrm>
          <a:prstGeom prst="rect">
            <a:avLst/>
          </a:prstGeom>
          <a:noFill/>
          <a:ln>
            <a:noFill/>
          </a:ln>
        </p:spPr>
      </p:pic>
      <p:pic>
        <p:nvPicPr>
          <p:cNvPr id="213" name="Google Shape;213;g3608850e775_7_16" title="user query.png"/>
          <p:cNvPicPr preferRelativeResize="0"/>
          <p:nvPr/>
        </p:nvPicPr>
        <p:blipFill>
          <a:blip r:embed="rId4">
            <a:alphaModFix/>
          </a:blip>
          <a:stretch>
            <a:fillRect/>
          </a:stretch>
        </p:blipFill>
        <p:spPr>
          <a:xfrm>
            <a:off x="6371800" y="3799700"/>
            <a:ext cx="5505350" cy="25076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608850e775_5_2"/>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220" name="Google Shape;220;g3608850e775_5_2"/>
          <p:cNvSpPr txBox="1"/>
          <p:nvPr/>
        </p:nvSpPr>
        <p:spPr>
          <a:xfrm>
            <a:off x="106200" y="719425"/>
            <a:ext cx="5466300" cy="623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rPr>
              <a:t>Proposed Solution</a:t>
            </a:r>
            <a:endParaRPr b="1" sz="1600">
              <a:solidFill>
                <a:schemeClr val="dk1"/>
              </a:solidFill>
            </a:endParaRPr>
          </a:p>
          <a:p>
            <a:pPr indent="0" lvl="0" marL="0" rtl="0" algn="l">
              <a:lnSpc>
                <a:spcPct val="115000"/>
              </a:lnSpc>
              <a:spcBef>
                <a:spcPts val="1200"/>
              </a:spcBef>
              <a:spcAft>
                <a:spcPts val="0"/>
              </a:spcAft>
              <a:buNone/>
            </a:pPr>
            <a:r>
              <a:rPr lang="en-US" sz="1600">
                <a:solidFill>
                  <a:schemeClr val="dk1"/>
                </a:solidFill>
              </a:rPr>
              <a:t>Your project introduces a </a:t>
            </a:r>
            <a:r>
              <a:rPr b="1" lang="en-US" sz="1600">
                <a:solidFill>
                  <a:schemeClr val="dk1"/>
                </a:solidFill>
              </a:rPr>
              <a:t>dynamic, multi-layered methodology</a:t>
            </a:r>
            <a:r>
              <a:rPr lang="en-US" sz="1600">
                <a:solidFill>
                  <a:schemeClr val="dk1"/>
                </a:solidFill>
              </a:rPr>
              <a:t> that integrates cognitive psychology principles with advanced machine learning techniques. It specifically aims to:</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Develop a cognitive psychology-based user classification system using MBTI profiling and  emotion analysis.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Implement a personalized response generation engine that adapts </a:t>
            </a:r>
            <a:r>
              <a:rPr b="1" lang="en-US" sz="1600">
                <a:solidFill>
                  <a:schemeClr val="dk1"/>
                </a:solidFill>
              </a:rPr>
              <a:t>conversational style and support strategies </a:t>
            </a:r>
            <a:r>
              <a:rPr lang="en-US" sz="1600">
                <a:solidFill>
                  <a:schemeClr val="dk1"/>
                </a:solidFill>
              </a:rPr>
              <a:t>based on detected emotional state, academic context, and user personality.</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Enable cross-linguistic adaptation by providing </a:t>
            </a:r>
            <a:r>
              <a:rPr b="1" lang="en-US" sz="1600">
                <a:solidFill>
                  <a:schemeClr val="dk1"/>
                </a:solidFill>
              </a:rPr>
              <a:t>culturally sensitive, emotion-aware r</a:t>
            </a:r>
            <a:r>
              <a:rPr lang="en-US" sz="1600">
                <a:solidFill>
                  <a:schemeClr val="dk1"/>
                </a:solidFill>
              </a:rPr>
              <a:t>esponses in both English and Kannada. This involves using a transformer-based emotion classification engine (DistilRoBERTa) and a personality adaptation engine (MBTI profiling) to adapt conversational style and support strategies in real-time.</a:t>
            </a:r>
            <a:endParaRPr sz="1600">
              <a:solidFill>
                <a:schemeClr val="dk1"/>
              </a:solidFill>
            </a:endParaRPr>
          </a:p>
          <a:p>
            <a:pPr indent="0" lvl="0" marL="0" rtl="0" algn="l">
              <a:lnSpc>
                <a:spcPct val="85000"/>
              </a:lnSpc>
              <a:spcBef>
                <a:spcPts val="1200"/>
              </a:spcBef>
              <a:spcAft>
                <a:spcPts val="0"/>
              </a:spcAft>
              <a:buNone/>
            </a:pPr>
            <a:r>
              <a:t/>
            </a:r>
            <a:endParaRPr b="1" sz="1600">
              <a:solidFill>
                <a:schemeClr val="dk1"/>
              </a:solidFill>
              <a:latin typeface="Times New Roman"/>
              <a:ea typeface="Times New Roman"/>
              <a:cs typeface="Times New Roman"/>
              <a:sym typeface="Times New Roman"/>
            </a:endParaRPr>
          </a:p>
        </p:txBody>
      </p:sp>
      <p:sp>
        <p:nvSpPr>
          <p:cNvPr id="221" name="Google Shape;221;g3608850e775_5_2"/>
          <p:cNvSpPr txBox="1"/>
          <p:nvPr/>
        </p:nvSpPr>
        <p:spPr>
          <a:xfrm>
            <a:off x="5572375" y="974000"/>
            <a:ext cx="6459600" cy="470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500">
                <a:solidFill>
                  <a:schemeClr val="dk1"/>
                </a:solidFill>
              </a:rPr>
              <a:t>Justification</a:t>
            </a:r>
            <a:endParaRPr b="1" sz="1500">
              <a:solidFill>
                <a:schemeClr val="dk1"/>
              </a:solidFill>
            </a:endParaRPr>
          </a:p>
          <a:p>
            <a:pPr indent="0" lvl="0" marL="0" rtl="0" algn="l">
              <a:lnSpc>
                <a:spcPct val="115000"/>
              </a:lnSpc>
              <a:spcBef>
                <a:spcPts val="1200"/>
              </a:spcBef>
              <a:spcAft>
                <a:spcPts val="0"/>
              </a:spcAft>
              <a:buNone/>
            </a:pPr>
            <a:r>
              <a:rPr lang="en-US" sz="1500">
                <a:solidFill>
                  <a:schemeClr val="dk1"/>
                </a:solidFill>
              </a:rPr>
              <a:t>This approach is designed to better address the identified research gaps by moving beyond static, one-size-all conversational AI systems. It directly tackles the need for:</a:t>
            </a:r>
            <a:endParaRPr sz="15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US" sz="1500">
                <a:solidFill>
                  <a:schemeClr val="dk1"/>
                </a:solidFill>
              </a:rPr>
              <a:t>Enhanced personalization</a:t>
            </a:r>
            <a:r>
              <a:rPr lang="en-US" sz="1500">
                <a:solidFill>
                  <a:schemeClr val="dk1"/>
                </a:solidFill>
              </a:rPr>
              <a:t>: By integrating MBTI and real-time emotion detection, it provides more tailored and empathetic interactions.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Multilingual and cross-cultural sensitivity</a:t>
            </a:r>
            <a:r>
              <a:rPr lang="en-US" sz="1500">
                <a:solidFill>
                  <a:schemeClr val="dk1"/>
                </a:solidFill>
              </a:rPr>
              <a:t>: Offering support in both English and Kannada addresses the limitations in culturally and linguistically aware AI systems.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context adaptation</a:t>
            </a:r>
            <a:r>
              <a:rPr lang="en-US" sz="1500">
                <a:solidFill>
                  <a:schemeClr val="dk1"/>
                </a:solidFill>
              </a:rPr>
              <a:t>: The system's ability to adjust responses based on immediate emotional states provides a more dynamic and effective support mechanism.</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Context-specific relevance</a:t>
            </a:r>
            <a:r>
              <a:rPr lang="en-US" sz="1500">
                <a:solidFill>
                  <a:schemeClr val="dk1"/>
                </a:solidFill>
              </a:rPr>
              <a:t>: Its focus on academic and mental health support for students fills a niche often overlooked by general-purpose chatbots.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608850e775_2_27"/>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228" name="Google Shape;228;g3608850e775_2_27"/>
          <p:cNvSpPr txBox="1"/>
          <p:nvPr/>
        </p:nvSpPr>
        <p:spPr>
          <a:xfrm>
            <a:off x="939000" y="905450"/>
            <a:ext cx="10368000" cy="680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800">
                <a:solidFill>
                  <a:schemeClr val="dk1"/>
                </a:solidFill>
              </a:rPr>
              <a:t>Testing Methodology:</a:t>
            </a:r>
            <a:br>
              <a:rPr b="1" lang="en-US" sz="1800">
                <a:solidFill>
                  <a:schemeClr val="dk1"/>
                </a:solidFill>
              </a:rPr>
            </a:br>
            <a:r>
              <a:rPr lang="en-US" sz="1800">
                <a:solidFill>
                  <a:schemeClr val="dk1"/>
                </a:solidFill>
              </a:rPr>
              <a:t> We performed functional testing on each module, including MBTI classification, emotion detection, and chatbot response generation. I</a:t>
            </a:r>
            <a:r>
              <a:rPr b="1" lang="en-US" sz="1800">
                <a:solidFill>
                  <a:schemeClr val="dk1"/>
                </a:solidFill>
              </a:rPr>
              <a:t>nputs were provided in both English and Kannada to validate multilingual handli</a:t>
            </a:r>
            <a:r>
              <a:rPr lang="en-US" sz="1800">
                <a:solidFill>
                  <a:schemeClr val="dk1"/>
                </a:solidFill>
              </a:rPr>
              <a:t>ng. We also tested end-to-end interaction flows to ensure logical consistency and personalized responses.</a:t>
            </a:r>
            <a:endParaRPr sz="1800">
              <a:solidFill>
                <a:schemeClr val="dk1"/>
              </a:solidFill>
            </a:endParaRPr>
          </a:p>
          <a:p>
            <a:pPr indent="0" lvl="0" marL="0" rtl="0" algn="l">
              <a:lnSpc>
                <a:spcPct val="115000"/>
              </a:lnSpc>
              <a:spcBef>
                <a:spcPts val="1200"/>
              </a:spcBef>
              <a:spcAft>
                <a:spcPts val="0"/>
              </a:spcAft>
              <a:buNone/>
            </a:pPr>
            <a:r>
              <a:rPr b="1" lang="en-US" sz="1800">
                <a:solidFill>
                  <a:schemeClr val="dk1"/>
                </a:solidFill>
              </a:rPr>
              <a:t>Results:</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The chatbot res</a:t>
            </a:r>
            <a:r>
              <a:rPr b="1" lang="en-US" sz="1800">
                <a:solidFill>
                  <a:schemeClr val="dk1"/>
                </a:solidFill>
              </a:rPr>
              <a:t>ponded appropriately to a variety of user i</a:t>
            </a:r>
            <a:r>
              <a:rPr lang="en-US" sz="1800">
                <a:solidFill>
                  <a:schemeClr val="dk1"/>
                </a:solidFill>
              </a:rPr>
              <a:t>nputs, including stress-related and casual messages.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It was able to identify personality traits and ad</a:t>
            </a:r>
            <a:r>
              <a:rPr b="1" lang="en-US" sz="1800">
                <a:solidFill>
                  <a:schemeClr val="dk1"/>
                </a:solidFill>
              </a:rPr>
              <a:t>apt responses across multiple tes</a:t>
            </a:r>
            <a:r>
              <a:rPr lang="en-US" sz="1800">
                <a:solidFill>
                  <a:schemeClr val="dk1"/>
                </a:solidFill>
              </a:rPr>
              <a:t>t cases.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Ka</a:t>
            </a:r>
            <a:r>
              <a:rPr b="1" lang="en-US" sz="1800">
                <a:solidFill>
                  <a:schemeClr val="dk1"/>
                </a:solidFill>
              </a:rPr>
              <a:t>nnada-language handling showed posi</a:t>
            </a:r>
            <a:r>
              <a:rPr lang="en-US" sz="1800">
                <a:solidFill>
                  <a:schemeClr val="dk1"/>
                </a:solidFill>
              </a:rPr>
              <a:t>tive results in basic conversational scenarios..</a:t>
            </a:r>
            <a:endParaRPr sz="1800">
              <a:solidFill>
                <a:schemeClr val="dk1"/>
              </a:solidFill>
            </a:endParaRPr>
          </a:p>
          <a:p>
            <a:pPr indent="0" lvl="0" marL="0" rtl="0" algn="l">
              <a:lnSpc>
                <a:spcPct val="115000"/>
              </a:lnSpc>
              <a:spcBef>
                <a:spcPts val="1200"/>
              </a:spcBef>
              <a:spcAft>
                <a:spcPts val="0"/>
              </a:spcAft>
              <a:buNone/>
            </a:pPr>
            <a:r>
              <a:rPr b="1" lang="en-US" sz="1800">
                <a:solidFill>
                  <a:schemeClr val="dk1"/>
                </a:solidFill>
              </a:rPr>
              <a:t>Performance Observations:</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Resp</a:t>
            </a:r>
            <a:r>
              <a:rPr b="1" lang="en-US" sz="1800">
                <a:solidFill>
                  <a:schemeClr val="dk1"/>
                </a:solidFill>
              </a:rPr>
              <a:t>onse time was consiste</a:t>
            </a:r>
            <a:r>
              <a:rPr lang="en-US" sz="1800">
                <a:solidFill>
                  <a:schemeClr val="dk1"/>
                </a:solidFill>
              </a:rPr>
              <a:t>nt across test runs on a local machine.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Integration of Gemini API enhanced the naturalness of responses.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Emotion-based adjustments were triggered correctly in multiple test cases.</a:t>
            </a:r>
            <a:br>
              <a:rPr lang="en-US" sz="1800">
                <a:solidFill>
                  <a:schemeClr val="dk1"/>
                </a:solidFill>
              </a:rPr>
            </a:br>
            <a:endParaRPr sz="18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0" lvl="0" marL="0" rtl="0" algn="l">
              <a:lnSpc>
                <a:spcPct val="85000"/>
              </a:lnSpc>
              <a:spcBef>
                <a:spcPts val="1200"/>
              </a:spcBef>
              <a:spcAft>
                <a:spcPts val="0"/>
              </a:spcAft>
              <a:buNone/>
            </a:pPr>
            <a:br>
              <a:rPr lang="en-US" sz="1800">
                <a:solidFill>
                  <a:srgbClr val="262626"/>
                </a:solidFill>
                <a:latin typeface="Times New Roman"/>
                <a:ea typeface="Times New Roman"/>
                <a:cs typeface="Times New Roman"/>
                <a:sym typeface="Times New Roman"/>
              </a:rPr>
            </a:br>
            <a:endParaRPr sz="1800">
              <a:solidFill>
                <a:srgbClr val="262626"/>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608850e775_7_35"/>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235" name="Google Shape;235;g3608850e775_7_35"/>
          <p:cNvSpPr txBox="1"/>
          <p:nvPr/>
        </p:nvSpPr>
        <p:spPr>
          <a:xfrm>
            <a:off x="335325" y="704250"/>
            <a:ext cx="4063500" cy="1098900"/>
          </a:xfrm>
          <a:prstGeom prst="rect">
            <a:avLst/>
          </a:prstGeom>
          <a:noFill/>
          <a:ln>
            <a:noFill/>
          </a:ln>
        </p:spPr>
        <p:txBody>
          <a:bodyPr anchorCtr="0" anchor="t" bIns="91425" lIns="91425" spcFirstLastPara="1" rIns="91425" wrap="square" tIns="91425">
            <a:spAutoFit/>
          </a:bodyPr>
          <a:lstStyle/>
          <a:p>
            <a:pPr indent="0" lvl="0" marL="228600" rtl="0" algn="l">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2.   Results Snapshot and Description</a:t>
            </a:r>
            <a:endParaRPr sz="1800">
              <a:solidFill>
                <a:schemeClr val="dk1"/>
              </a:solidFill>
              <a:latin typeface="Times New Roman"/>
              <a:ea typeface="Times New Roman"/>
              <a:cs typeface="Times New Roman"/>
              <a:sym typeface="Times New Roman"/>
            </a:endParaRPr>
          </a:p>
          <a:p>
            <a:pPr indent="0" lvl="0" marL="228600" rtl="0" algn="l">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236" name="Google Shape;236;g3608850e775_7_35" title="mbert_mbti_roc_curves[2].png"/>
          <p:cNvPicPr preferRelativeResize="0"/>
          <p:nvPr/>
        </p:nvPicPr>
        <p:blipFill>
          <a:blip r:embed="rId3">
            <a:alphaModFix/>
          </a:blip>
          <a:stretch>
            <a:fillRect/>
          </a:stretch>
        </p:blipFill>
        <p:spPr>
          <a:xfrm>
            <a:off x="152400" y="1443500"/>
            <a:ext cx="4950575" cy="4285476"/>
          </a:xfrm>
          <a:prstGeom prst="rect">
            <a:avLst/>
          </a:prstGeom>
          <a:noFill/>
          <a:ln>
            <a:noFill/>
          </a:ln>
        </p:spPr>
      </p:pic>
      <p:pic>
        <p:nvPicPr>
          <p:cNvPr id="237" name="Google Shape;237;g3608850e775_7_35" title="loss and accuracy.jpg"/>
          <p:cNvPicPr preferRelativeResize="0"/>
          <p:nvPr/>
        </p:nvPicPr>
        <p:blipFill>
          <a:blip r:embed="rId4">
            <a:alphaModFix/>
          </a:blip>
          <a:stretch>
            <a:fillRect/>
          </a:stretch>
        </p:blipFill>
        <p:spPr>
          <a:xfrm>
            <a:off x="4918525" y="1443500"/>
            <a:ext cx="7273475" cy="3372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608850e775_9_3"/>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pic>
        <p:nvPicPr>
          <p:cNvPr id="244" name="Google Shape;244;g3608850e775_9_3" title="model_accuracies_with_mBERT.png"/>
          <p:cNvPicPr preferRelativeResize="0"/>
          <p:nvPr/>
        </p:nvPicPr>
        <p:blipFill rotWithShape="1">
          <a:blip r:embed="rId3">
            <a:alphaModFix/>
          </a:blip>
          <a:srcRect b="16012" l="0" r="0" t="19026"/>
          <a:stretch/>
        </p:blipFill>
        <p:spPr>
          <a:xfrm>
            <a:off x="722500" y="1771800"/>
            <a:ext cx="7432202" cy="2666074"/>
          </a:xfrm>
          <a:prstGeom prst="rect">
            <a:avLst/>
          </a:prstGeom>
          <a:noFill/>
          <a:ln>
            <a:noFill/>
          </a:ln>
        </p:spPr>
      </p:pic>
      <p:sp>
        <p:nvSpPr>
          <p:cNvPr id="245" name="Google Shape;245;g3608850e775_9_3"/>
          <p:cNvSpPr txBox="1"/>
          <p:nvPr/>
        </p:nvSpPr>
        <p:spPr>
          <a:xfrm>
            <a:off x="760125" y="1268750"/>
            <a:ext cx="7394700" cy="50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3F3F3F"/>
                </a:solidFill>
                <a:latin typeface="Times New Roman"/>
                <a:ea typeface="Times New Roman"/>
                <a:cs typeface="Times New Roman"/>
                <a:sym typeface="Times New Roman"/>
              </a:rPr>
              <a:t>Comparison</a:t>
            </a:r>
            <a:r>
              <a:rPr lang="en-US" sz="1800">
                <a:solidFill>
                  <a:srgbClr val="3F3F3F"/>
                </a:solidFill>
                <a:latin typeface="Times New Roman"/>
                <a:ea typeface="Times New Roman"/>
                <a:cs typeface="Times New Roman"/>
                <a:sym typeface="Times New Roman"/>
              </a:rPr>
              <a:t> of existing model and mbert model</a:t>
            </a:r>
            <a:endParaRPr sz="1800">
              <a:solidFill>
                <a:srgbClr val="3F3F3F"/>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608850e775_2_20"/>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252" name="Google Shape;252;g3608850e775_2_20"/>
          <p:cNvSpPr txBox="1"/>
          <p:nvPr/>
        </p:nvSpPr>
        <p:spPr>
          <a:xfrm>
            <a:off x="905450" y="827250"/>
            <a:ext cx="11212500" cy="390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Challenges Faced:</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F</a:t>
            </a:r>
            <a:r>
              <a:rPr b="1" lang="en-US" sz="1800">
                <a:solidFill>
                  <a:schemeClr val="dk1"/>
                </a:solidFill>
                <a:latin typeface="Times New Roman"/>
                <a:ea typeface="Times New Roman"/>
                <a:cs typeface="Times New Roman"/>
                <a:sym typeface="Times New Roman"/>
              </a:rPr>
              <a:t>ine-tuning the mBER</a:t>
            </a:r>
            <a:r>
              <a:rPr lang="en-US" sz="1800">
                <a:solidFill>
                  <a:schemeClr val="dk1"/>
                </a:solidFill>
                <a:latin typeface="Times New Roman"/>
                <a:ea typeface="Times New Roman"/>
                <a:cs typeface="Times New Roman"/>
                <a:sym typeface="Times New Roman"/>
              </a:rPr>
              <a:t>T model to understand both English and Kannada text effectively.</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Accurately mapping user responses to MBTI personality types.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Ensuring sm</a:t>
            </a:r>
            <a:r>
              <a:rPr b="1" lang="en-US" sz="1800">
                <a:solidFill>
                  <a:schemeClr val="dk1"/>
                </a:solidFill>
                <a:latin typeface="Times New Roman"/>
                <a:ea typeface="Times New Roman"/>
                <a:cs typeface="Times New Roman"/>
                <a:sym typeface="Times New Roman"/>
              </a:rPr>
              <a:t>ooth integration of different modules</a:t>
            </a:r>
            <a:r>
              <a:rPr lang="en-US" sz="1800">
                <a:solidFill>
                  <a:schemeClr val="dk1"/>
                </a:solidFill>
                <a:latin typeface="Times New Roman"/>
                <a:ea typeface="Times New Roman"/>
                <a:cs typeface="Times New Roman"/>
                <a:sym typeface="Times New Roman"/>
              </a:rPr>
              <a:t> (chat engine,  personality detection).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Generating meaningful responses in Kan</a:t>
            </a:r>
            <a:r>
              <a:rPr b="1" lang="en-US" sz="1800">
                <a:solidFill>
                  <a:schemeClr val="dk1"/>
                </a:solidFill>
                <a:latin typeface="Times New Roman"/>
                <a:ea typeface="Times New Roman"/>
                <a:cs typeface="Times New Roman"/>
                <a:sym typeface="Times New Roman"/>
              </a:rPr>
              <a:t>nada without grammar or tone issues</a:t>
            </a:r>
            <a:r>
              <a:rPr lang="en-US"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How They Were Resolved:</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Refined the MBTI mapping logic based on user input patterns and keyword analysis.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M</a:t>
            </a:r>
            <a:r>
              <a:rPr b="1" lang="en-US" sz="1800">
                <a:solidFill>
                  <a:schemeClr val="dk1"/>
                </a:solidFill>
                <a:latin typeface="Times New Roman"/>
                <a:ea typeface="Times New Roman"/>
                <a:cs typeface="Times New Roman"/>
                <a:sym typeface="Times New Roman"/>
              </a:rPr>
              <a:t>odular testing and incremental integratio</a:t>
            </a:r>
            <a:r>
              <a:rPr lang="en-US" sz="1800">
                <a:solidFill>
                  <a:schemeClr val="dk1"/>
                </a:solidFill>
                <a:latin typeface="Times New Roman"/>
                <a:ea typeface="Times New Roman"/>
                <a:cs typeface="Times New Roman"/>
                <a:sym typeface="Times New Roman"/>
              </a:rPr>
              <a:t>n helped manage system dependencies.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Used Gemini API and ma</a:t>
            </a:r>
            <a:r>
              <a:rPr b="1" lang="en-US" sz="1800">
                <a:solidFill>
                  <a:schemeClr val="dk1"/>
                </a:solidFill>
                <a:latin typeface="Times New Roman"/>
                <a:ea typeface="Times New Roman"/>
                <a:cs typeface="Times New Roman"/>
                <a:sym typeface="Times New Roman"/>
              </a:rPr>
              <a:t>nual keyword filtering</a:t>
            </a:r>
            <a:r>
              <a:rPr lang="en-US" sz="1800">
                <a:solidFill>
                  <a:schemeClr val="dk1"/>
                </a:solidFill>
                <a:latin typeface="Times New Roman"/>
                <a:ea typeface="Times New Roman"/>
                <a:cs typeface="Times New Roman"/>
                <a:sym typeface="Times New Roman"/>
              </a:rPr>
              <a:t> for improved Kannada outputs.</a:t>
            </a:r>
            <a:endParaRPr sz="1800">
              <a:solidFill>
                <a:schemeClr val="dk1"/>
              </a:solidFill>
              <a:latin typeface="Times New Roman"/>
              <a:ea typeface="Times New Roman"/>
              <a:cs typeface="Times New Roman"/>
              <a:sym typeface="Times New Roman"/>
            </a:endParaRPr>
          </a:p>
          <a:p>
            <a:pPr indent="0" lvl="0" marL="0" rtl="0" algn="l">
              <a:lnSpc>
                <a:spcPct val="85000"/>
              </a:lnSpc>
              <a:spcBef>
                <a:spcPts val="1200"/>
              </a:spcBef>
              <a:spcAft>
                <a:spcPts val="0"/>
              </a:spcAft>
              <a:buNone/>
            </a:pPr>
            <a:r>
              <a:t/>
            </a:r>
            <a:endParaRPr b="1" sz="1800">
              <a:solidFill>
                <a:schemeClr val="dk2"/>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608850e775_2_13"/>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259" name="Google Shape;259;g3608850e775_2_13"/>
          <p:cNvSpPr txBox="1"/>
          <p:nvPr/>
        </p:nvSpPr>
        <p:spPr>
          <a:xfrm>
            <a:off x="922225" y="888700"/>
            <a:ext cx="9900600" cy="4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800">
                <a:solidFill>
                  <a:schemeClr val="dk1"/>
                </a:solidFill>
              </a:rPr>
              <a:t>Limitations and Improvements</a:t>
            </a:r>
            <a:endParaRPr b="1" sz="1800">
              <a:solidFill>
                <a:schemeClr val="dk1"/>
              </a:solidFill>
            </a:endParaRPr>
          </a:p>
          <a:p>
            <a:pPr indent="0" lvl="0" marL="0" rtl="0" algn="l">
              <a:lnSpc>
                <a:spcPct val="115000"/>
              </a:lnSpc>
              <a:spcBef>
                <a:spcPts val="1200"/>
              </a:spcBef>
              <a:spcAft>
                <a:spcPts val="0"/>
              </a:spcAft>
              <a:buNone/>
            </a:pPr>
            <a:r>
              <a:rPr b="1" lang="en-US" sz="1800">
                <a:solidFill>
                  <a:schemeClr val="dk1"/>
                </a:solidFill>
              </a:rPr>
              <a:t>Current Limitations:</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The </a:t>
            </a:r>
            <a:r>
              <a:rPr lang="en-US" sz="1800">
                <a:solidFill>
                  <a:schemeClr val="dk1"/>
                </a:solidFill>
              </a:rPr>
              <a:t>chatbot</a:t>
            </a:r>
            <a:r>
              <a:rPr lang="en-US" sz="1800">
                <a:solidFill>
                  <a:schemeClr val="dk1"/>
                </a:solidFill>
              </a:rPr>
              <a:t> accuracy depends on the quality of user input; short or unclear messages can affect personality detection.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Emotional understanding is </a:t>
            </a:r>
            <a:r>
              <a:rPr b="1" lang="en-US" sz="1800">
                <a:solidFill>
                  <a:schemeClr val="dk1"/>
                </a:solidFill>
              </a:rPr>
              <a:t>not complex moods like</a:t>
            </a:r>
            <a:r>
              <a:rPr lang="en-US" sz="1800">
                <a:solidFill>
                  <a:schemeClr val="dk1"/>
                </a:solidFill>
              </a:rPr>
              <a:t> sarcasm or mixed feelings.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Kannada support exists, but responses may struggle with informal or mixed-language input.</a:t>
            </a:r>
            <a:endParaRPr sz="1800">
              <a:solidFill>
                <a:schemeClr val="dk1"/>
              </a:solidFill>
            </a:endParaRPr>
          </a:p>
          <a:p>
            <a:pPr indent="0" lvl="0" marL="457200" rtl="0" algn="l">
              <a:lnSpc>
                <a:spcPct val="115000"/>
              </a:lnSpc>
              <a:spcBef>
                <a:spcPts val="1200"/>
              </a:spcBef>
              <a:spcAft>
                <a:spcPts val="0"/>
              </a:spcAft>
              <a:buNone/>
            </a:pPr>
            <a:r>
              <a:t/>
            </a:r>
            <a:endParaRPr sz="1800">
              <a:solidFill>
                <a:schemeClr val="dk1"/>
              </a:solidFill>
            </a:endParaRPr>
          </a:p>
          <a:p>
            <a:pPr indent="0" lvl="0" marL="0" rtl="0" algn="l">
              <a:lnSpc>
                <a:spcPct val="115000"/>
              </a:lnSpc>
              <a:spcBef>
                <a:spcPts val="1200"/>
              </a:spcBef>
              <a:spcAft>
                <a:spcPts val="0"/>
              </a:spcAft>
              <a:buNone/>
            </a:pPr>
            <a:r>
              <a:rPr b="1" lang="en-US" sz="1800">
                <a:solidFill>
                  <a:schemeClr val="dk1"/>
                </a:solidFill>
              </a:rPr>
              <a:t>Future Improvements:</a:t>
            </a:r>
            <a:endParaRPr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Integrate voice input and speech-based emotion recognition.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rgbClr val="262626"/>
                </a:solidFill>
              </a:rPr>
              <a:t>expand the the chatbot to different languages.</a:t>
            </a:r>
            <a:endParaRPr sz="1800">
              <a:solidFill>
                <a:srgbClr val="26262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608850e775_2_0"/>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266" name="Google Shape;266;g3608850e775_2_0"/>
          <p:cNvSpPr txBox="1"/>
          <p:nvPr/>
        </p:nvSpPr>
        <p:spPr>
          <a:xfrm>
            <a:off x="374475" y="870750"/>
            <a:ext cx="11817600" cy="391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700">
                <a:solidFill>
                  <a:schemeClr val="dk1"/>
                </a:solidFill>
              </a:rPr>
              <a:t>Conclusion</a:t>
            </a:r>
            <a:endParaRPr b="1" sz="1700">
              <a:solidFill>
                <a:schemeClr val="dk1"/>
              </a:solidFill>
            </a:endParaRPr>
          </a:p>
          <a:p>
            <a:pPr indent="0" lvl="0" marL="0" rtl="0" algn="l">
              <a:lnSpc>
                <a:spcPct val="115000"/>
              </a:lnSpc>
              <a:spcBef>
                <a:spcPts val="1200"/>
              </a:spcBef>
              <a:spcAft>
                <a:spcPts val="0"/>
              </a:spcAft>
              <a:buNone/>
            </a:pPr>
            <a:r>
              <a:rPr lang="en-US" sz="1700">
                <a:solidFill>
                  <a:schemeClr val="dk1"/>
                </a:solidFill>
              </a:rPr>
              <a:t>In this project, we developed a personalized chatbot that combines cognitive psychology and AI to offer meaningful conversations. The chatbot uses a multilingual BERT model to identify users' MBTI personality types and then adapts its responses accordingly. One of the highlights was making it work in Kannada, which helps address the language diversity that's often overlooked in AI systems.</a:t>
            </a:r>
            <a:endParaRPr sz="1700">
              <a:solidFill>
                <a:schemeClr val="dk1"/>
              </a:solidFill>
            </a:endParaRPr>
          </a:p>
          <a:p>
            <a:pPr indent="0" lvl="0" marL="0" rtl="0" algn="l">
              <a:lnSpc>
                <a:spcPct val="115000"/>
              </a:lnSpc>
              <a:spcBef>
                <a:spcPts val="1200"/>
              </a:spcBef>
              <a:spcAft>
                <a:spcPts val="0"/>
              </a:spcAft>
              <a:buNone/>
            </a:pPr>
            <a:r>
              <a:rPr lang="en-US" sz="1700">
                <a:solidFill>
                  <a:schemeClr val="dk1"/>
                </a:solidFill>
              </a:rPr>
              <a:t>The chatbot isn’t just rule-based — it understands emotional cues like stress or curiosity and changes how it replies, making interactions feel more thoughtful and real. With the help of Google’s Gemini API, we made the responses more natural and easier to connect with. </a:t>
            </a:r>
            <a:endParaRPr sz="1700">
              <a:solidFill>
                <a:schemeClr val="dk1"/>
              </a:solidFill>
            </a:endParaRPr>
          </a:p>
          <a:p>
            <a:pPr indent="0" lvl="0" marL="0" rtl="0" algn="l">
              <a:lnSpc>
                <a:spcPct val="115000"/>
              </a:lnSpc>
              <a:spcBef>
                <a:spcPts val="1200"/>
              </a:spcBef>
              <a:spcAft>
                <a:spcPts val="1200"/>
              </a:spcAft>
              <a:buNone/>
            </a:pPr>
            <a:r>
              <a:rPr lang="en-US" sz="1700">
                <a:solidFill>
                  <a:schemeClr val="dk1"/>
                </a:solidFill>
              </a:rPr>
              <a:t>Overall, the chatbot did what we aimed for: it understood users better and responded in ways that felt relevant and engaging. We could see it being used in mental health, education, or even social platforms where understanding the user matters.</a:t>
            </a:r>
            <a:endParaRPr sz="1700">
              <a:solidFill>
                <a:srgbClr val="262626"/>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608850e775_0_22"/>
          <p:cNvSpPr txBox="1"/>
          <p:nvPr>
            <p:ph idx="12" type="sldNum"/>
          </p:nvPr>
        </p:nvSpPr>
        <p:spPr>
          <a:xfrm>
            <a:off x="9900458" y="6459785"/>
            <a:ext cx="13119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273" name="Google Shape;273;g3608850e775_0_22"/>
          <p:cNvSpPr txBox="1"/>
          <p:nvPr/>
        </p:nvSpPr>
        <p:spPr>
          <a:xfrm>
            <a:off x="1020550" y="919350"/>
            <a:ext cx="9819900" cy="50193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US" sz="2400">
                <a:solidFill>
                  <a:schemeClr val="dk2"/>
                </a:solidFill>
                <a:latin typeface="Times New Roman"/>
                <a:ea typeface="Times New Roman"/>
                <a:cs typeface="Times New Roman"/>
                <a:sym typeface="Times New Roman"/>
              </a:rPr>
              <a:t>References</a:t>
            </a:r>
            <a:br>
              <a:rPr b="1" lang="en-US" sz="2400">
                <a:solidFill>
                  <a:schemeClr val="dk2"/>
                </a:solidFill>
                <a:latin typeface="Times New Roman"/>
                <a:ea typeface="Times New Roman"/>
                <a:cs typeface="Times New Roman"/>
                <a:sym typeface="Times New Roman"/>
              </a:rPr>
            </a:br>
            <a:br>
              <a:rPr lang="en-US" sz="2400">
                <a:solidFill>
                  <a:schemeClr val="dk2"/>
                </a:solidFill>
                <a:latin typeface="Times New Roman"/>
                <a:ea typeface="Times New Roman"/>
                <a:cs typeface="Times New Roman"/>
                <a:sym typeface="Times New Roman"/>
              </a:rPr>
            </a:br>
            <a:r>
              <a:rPr lang="en-US" sz="1800">
                <a:solidFill>
                  <a:schemeClr val="dk1"/>
                </a:solidFill>
                <a:latin typeface="Courier New"/>
                <a:ea typeface="Courier New"/>
                <a:cs typeface="Courier New"/>
                <a:sym typeface="Courier New"/>
              </a:rPr>
              <a:t>o</a:t>
            </a:r>
            <a:r>
              <a:rPr lang="en-US" sz="1800">
                <a:solidFill>
                  <a:schemeClr val="dk1"/>
                </a:solidFill>
              </a:rPr>
              <a:t>Bhowmick, S. S., Chen, S. H. A., &amp; Srivastava, D. (2024). </a:t>
            </a:r>
            <a:r>
              <a:rPr i="1" lang="en-US" sz="1800">
                <a:solidFill>
                  <a:schemeClr val="dk1"/>
                </a:solidFill>
              </a:rPr>
              <a:t>Cognitive psychology meets data management: State of the art and future directions</a:t>
            </a:r>
            <a:r>
              <a:rPr lang="en-US" sz="1800">
                <a:solidFill>
                  <a:schemeClr val="dk1"/>
                </a:solidFill>
              </a:rPr>
              <a:t>. Companion of the 2024 ACM International Conference on Data Engineering (ICDE'24), 1–8.</a:t>
            </a:r>
            <a:endParaRPr sz="1800">
              <a:solidFill>
                <a:schemeClr val="dk1"/>
              </a:solidFill>
            </a:endParaRPr>
          </a:p>
          <a:p>
            <a:pPr indent="0" lvl="0" marL="0" rtl="0" algn="l">
              <a:lnSpc>
                <a:spcPct val="115000"/>
              </a:lnSpc>
              <a:spcBef>
                <a:spcPts val="0"/>
              </a:spcBef>
              <a:spcAft>
                <a:spcPts val="0"/>
              </a:spcAft>
              <a:buNone/>
            </a:pPr>
            <a:r>
              <a:rPr lang="en-US" sz="1800">
                <a:solidFill>
                  <a:schemeClr val="dk1"/>
                </a:solidFill>
                <a:latin typeface="Courier New"/>
                <a:ea typeface="Courier New"/>
                <a:cs typeface="Courier New"/>
                <a:sym typeface="Courier New"/>
              </a:rPr>
              <a:t>o</a:t>
            </a:r>
            <a:endParaRPr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US" sz="1800">
                <a:solidFill>
                  <a:schemeClr val="dk1"/>
                </a:solidFill>
              </a:rPr>
              <a:t>Lex, E., &amp; Schedl, M. (2022). </a:t>
            </a:r>
            <a:r>
              <a:rPr i="1" lang="en-US" sz="1800">
                <a:solidFill>
                  <a:schemeClr val="dk1"/>
                </a:solidFill>
              </a:rPr>
              <a:t>Psychology-informed recommender systems: A human-centric perspective on recommender systems</a:t>
            </a:r>
            <a:r>
              <a:rPr lang="en-US" sz="1800">
                <a:solidFill>
                  <a:schemeClr val="dk1"/>
                </a:solidFill>
              </a:rPr>
              <a:t>. Proceedings of the ACM Conference on Human Information Interaction and Retrieval (CHIIR'22), 1–7.</a:t>
            </a:r>
            <a:endParaRPr sz="1800">
              <a:solidFill>
                <a:schemeClr val="dk1"/>
              </a:solidFill>
            </a:endParaRPr>
          </a:p>
          <a:p>
            <a:pPr indent="0" lvl="0" marL="0" rtl="0" algn="l">
              <a:lnSpc>
                <a:spcPct val="115000"/>
              </a:lnSpc>
              <a:spcBef>
                <a:spcPts val="0"/>
              </a:spcBef>
              <a:spcAft>
                <a:spcPts val="0"/>
              </a:spcAft>
              <a:buNone/>
            </a:pPr>
            <a:r>
              <a:rPr lang="en-US" sz="1800">
                <a:solidFill>
                  <a:schemeClr val="dk1"/>
                </a:solidFill>
                <a:latin typeface="Courier New"/>
                <a:ea typeface="Courier New"/>
                <a:cs typeface="Courier New"/>
                <a:sym typeface="Courier New"/>
              </a:rPr>
              <a:t>o</a:t>
            </a:r>
            <a:endParaRPr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US" sz="1800">
                <a:solidFill>
                  <a:schemeClr val="dk1"/>
                </a:solidFill>
              </a:rPr>
              <a:t>Henry, N. F. (2023). </a:t>
            </a:r>
            <a:r>
              <a:rPr i="1" lang="en-US" sz="1800">
                <a:solidFill>
                  <a:schemeClr val="dk1"/>
                </a:solidFill>
              </a:rPr>
              <a:t>Modelling music selection in everyday life with applications for psychology-informed music recommender systems</a:t>
            </a:r>
            <a:r>
              <a:rPr lang="en-US" sz="1800">
                <a:solidFill>
                  <a:schemeClr val="dk1"/>
                </a:solidFill>
              </a:rPr>
              <a:t> (Ph.D. thesis). University of Leeds</a:t>
            </a:r>
            <a:endParaRPr sz="1800">
              <a:solidFill>
                <a:schemeClr val="dk1"/>
              </a:solidFill>
            </a:endParaRPr>
          </a:p>
          <a:p>
            <a:pPr indent="0" lvl="0" marL="0" rtl="0" algn="l">
              <a:lnSpc>
                <a:spcPct val="115000"/>
              </a:lnSpc>
              <a:spcBef>
                <a:spcPts val="0"/>
              </a:spcBef>
              <a:spcAft>
                <a:spcPts val="0"/>
              </a:spcAft>
              <a:buNone/>
            </a:pPr>
            <a:r>
              <a:rPr lang="en-US" sz="1800">
                <a:solidFill>
                  <a:schemeClr val="dk1"/>
                </a:solidFill>
                <a:latin typeface="Courier New"/>
                <a:ea typeface="Courier New"/>
                <a:cs typeface="Courier New"/>
                <a:sym typeface="Courier New"/>
              </a:rPr>
              <a:t>o</a:t>
            </a:r>
            <a:endParaRPr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US" sz="1800">
                <a:solidFill>
                  <a:schemeClr val="dk1"/>
                </a:solidFill>
              </a:rPr>
              <a:t>Kumar, A., &amp; Sharma, A. (2021). </a:t>
            </a:r>
            <a:r>
              <a:rPr i="1" lang="en-US" sz="1800">
                <a:solidFill>
                  <a:schemeClr val="dk1"/>
                </a:solidFill>
              </a:rPr>
              <a:t>A review on sentiment analysis and emotion detection from text</a:t>
            </a:r>
            <a:r>
              <a:rPr lang="en-US" sz="1800">
                <a:solidFill>
                  <a:schemeClr val="dk1"/>
                </a:solidFill>
              </a:rPr>
              <a:t>. Journal of the Indian Institute of Science, 101(4), 435–448.</a:t>
            </a:r>
            <a:endParaRPr sz="1800">
              <a:solidFill>
                <a:schemeClr val="dk1"/>
              </a:solidFill>
            </a:endParaRPr>
          </a:p>
          <a:p>
            <a:pPr indent="0" lvl="0" marL="0" rtl="0" algn="l">
              <a:lnSpc>
                <a:spcPct val="85000"/>
              </a:lnSpc>
              <a:spcBef>
                <a:spcPts val="0"/>
              </a:spcBef>
              <a:spcAft>
                <a:spcPts val="0"/>
              </a:spcAft>
              <a:buNone/>
            </a:pPr>
            <a:r>
              <a:t/>
            </a:r>
            <a:endParaRPr sz="2400">
              <a:solidFill>
                <a:schemeClr val="dk2"/>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Custom 1">
      <a:dk1>
        <a:srgbClr val="000000"/>
      </a:dk1>
      <a:lt1>
        <a:srgbClr val="FFFFFF"/>
      </a:lt1>
      <a:dk2>
        <a:srgbClr val="775F55"/>
      </a:dk2>
      <a:lt2>
        <a:srgbClr val="EBDDC3"/>
      </a:lt2>
      <a:accent1>
        <a:srgbClr val="94B6D2"/>
      </a:accent1>
      <a:accent2>
        <a:srgbClr val="7030A0"/>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